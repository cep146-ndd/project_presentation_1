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the last few years, AI chatbots have exploded, answering your questions, but left the work to you. On September 8, 2026, Meta launched Muse, the "personal AI agent that does the work itself". It can open a browser, fill out your forms, and act on your behalf.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Muse is available to adults in the US, and it connects to apps you already use: email, calendars, payments, shopping, even health apps. You reach it through an app, the web, or WhatsApp, and it keeps working after you close it. There's a free tier, with paid plans at $20 and $100 a month. But here's the dilemma: an AI agent with access to your inbox and your wallet raises the obvious question, why trust it? This leads us 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Meta's first answer is where Muse runs, where it lives. Each user gets a dedicated cloud computer, the Muse Secure VM, with its own browser. The agent works inside a sealed container, and the safety services run outside around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Second is Sentinel, a separate security agent on the same machine. Muse can only propose actions. Sentinel decides whether to allow, deny, or ask you, and it checks every outgoing network request. Approvals appear in the Muse app, not the chat, so the agent can't try to convince you or talk you into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Third is your logins. Muse hands the agent "stand-in tokens", and the real credentials are swapped in only after Sentinel approves. So even a malicious email or web page can't trick the agent into leaking a password it never had. On money: payments use a one-time card from Link by Stripe, tied to one merchant and one amount, and Meta says you give the green light on every purchase before it approves.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here's the catch. Everything just described, the Secure VM, Sentinel, and the protected passwords, comes from Meta's own documentation, and early coverage said it needs outside scrutiny. Meta admits Muse isn't immune to cyber attacks. Prompt injection, where hidden instructions in an email or web page try to hijack the agent, is still an open problem. The VM isn't fully private either: Meta can still access what's inside when necessary to support, secure, or operate the service. Meta has promised a Confidential VM, an encrypted version even Meta can't open, for later this year, but it isn't available yet. On data use, what you tell Muse and the tasks it does are used to train Meta's AI models by default, though you can opt out. Meta says Muse data stays out of its advertising systems, although your browsing activity, like visiting a brand's website, may still influence the ads you see. And Meta's privacy record, including a $5 billion FTC penalty in 2019 and the Cambridge Analytica scandal, is why trust is the central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Agents that act could save real time, but they're only as safe as the access you give them. Muse answers part of the trust question. The rest depends on whether Meta delivers. Only time will tell.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slideLayout" Target="../slideLayouts/slideLayout1.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image" Target="../media/image-5-8.png"/><Relationship Id="rId9" Type="http://schemas.openxmlformats.org/officeDocument/2006/relationships/slideLayout" Target="../slideLayouts/slideLayout1.xml"/><Relationship Id="rId10"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slideLayout" Target="../slideLayouts/slideLayout1.xml"/><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B33"/>
        </a:solidFill>
      </p:bgPr>
    </p:bg>
    <p:spTree>
      <p:nvGrpSpPr>
        <p:cNvPr id="1" name=""/>
        <p:cNvGrpSpPr/>
        <p:nvPr/>
      </p:nvGrpSpPr>
      <p:grpSpPr>
        <a:xfrm>
          <a:off x="0" y="0"/>
          <a:ext cx="0" cy="0"/>
          <a:chOff x="0" y="0"/>
          <a:chExt cx="0" cy="0"/>
        </a:xfrm>
      </p:grpSpPr>
      <p:sp>
        <p:nvSpPr>
          <p:cNvPr id="2" name="Shape 0"/>
          <p:cNvSpPr/>
          <p:nvPr/>
        </p:nvSpPr>
        <p:spPr>
          <a:xfrm>
            <a:off x="6035040" y="1097280"/>
            <a:ext cx="2651760" cy="2651760"/>
          </a:xfrm>
          <a:prstGeom prst="ellipse">
            <a:avLst/>
          </a:prstGeom>
          <a:solidFill>
            <a:srgbClr val="1A2A4A"/>
          </a:solidFill>
          <a:ln/>
        </p:spPr>
      </p:sp>
      <p:sp>
        <p:nvSpPr>
          <p:cNvPr id="3" name="Shape 1"/>
          <p:cNvSpPr/>
          <p:nvPr/>
        </p:nvSpPr>
        <p:spPr>
          <a:xfrm>
            <a:off x="6583680" y="1645920"/>
            <a:ext cx="1554480" cy="1554480"/>
          </a:xfrm>
          <a:prstGeom prst="ellipse">
            <a:avLst/>
          </a:prstGeom>
          <a:solidFill>
            <a:srgbClr val="2DD4BF"/>
          </a:solidFill>
          <a:ln/>
        </p:spPr>
      </p:sp>
      <p:pic>
        <p:nvPicPr>
          <p:cNvPr id="4" name="Image 0" descr="preencoded.png">    </p:cNvPr>
          <p:cNvPicPr>
            <a:picLocks noChangeAspect="1"/>
          </p:cNvPicPr>
          <p:nvPr/>
        </p:nvPicPr>
        <p:blipFill>
          <a:blip r:embed="rId1"/>
          <a:stretch>
            <a:fillRect/>
          </a:stretch>
        </p:blipFill>
        <p:spPr>
          <a:xfrm>
            <a:off x="6922008" y="1984248"/>
            <a:ext cx="877824" cy="877824"/>
          </a:xfrm>
          <a:prstGeom prst="rect">
            <a:avLst/>
          </a:prstGeom>
        </p:spPr>
      </p:pic>
      <p:sp>
        <p:nvSpPr>
          <p:cNvPr id="5" name="Text 2"/>
          <p:cNvSpPr txBox="1"/>
          <p:nvPr/>
        </p:nvSpPr>
        <p:spPr>
          <a:xfrm>
            <a:off x="457200" y="1097280"/>
            <a:ext cx="5303520" cy="822960"/>
          </a:xfrm>
          <a:prstGeom prst="rect">
            <a:avLst/>
          </a:prstGeom>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Meta’s Muse</a:t>
            </a:r>
            <a:endParaRPr lang="en-US" sz="4400" dirty="0"/>
          </a:p>
        </p:txBody>
      </p:sp>
      <p:sp>
        <p:nvSpPr>
          <p:cNvPr id="6" name="Text 3"/>
          <p:cNvSpPr txBox="1"/>
          <p:nvPr/>
        </p:nvSpPr>
        <p:spPr>
          <a:xfrm>
            <a:off x="457200" y="1920240"/>
            <a:ext cx="5303520" cy="822960"/>
          </a:xfrm>
          <a:prstGeom prst="rect">
            <a:avLst/>
          </a:prstGeom>
          <a:noFill/>
          <a:ln/>
        </p:spPr>
        <p:txBody>
          <a:bodyPr wrap="square" lIns="0" tIns="0" rIns="0" bIns="0" rtlCol="0" anchor="ctr"/>
          <a:lstStyle/>
          <a:p>
            <a:pPr indent="0" marL="0">
              <a:buNone/>
            </a:pPr>
            <a:r>
              <a:rPr lang="en-US" sz="2600" dirty="0">
                <a:solidFill>
                  <a:srgbClr val="2DD4BF"/>
                </a:solidFill>
                <a:latin typeface="Cambria" pitchFamily="34" charset="0"/>
                <a:ea typeface="Cambria" pitchFamily="34" charset="-122"/>
                <a:cs typeface="Cambria" pitchFamily="34" charset="-120"/>
              </a:rPr>
              <a:t>The Future of AI Coding and Security</a:t>
            </a:r>
            <a:endParaRPr lang="en-US" sz="2600" dirty="0"/>
          </a:p>
        </p:txBody>
      </p:sp>
      <p:sp>
        <p:nvSpPr>
          <p:cNvPr id="7" name="Text 4"/>
          <p:cNvSpPr txBox="1"/>
          <p:nvPr/>
        </p:nvSpPr>
        <p:spPr>
          <a:xfrm>
            <a:off x="457200" y="2926080"/>
            <a:ext cx="5303520" cy="548640"/>
          </a:xfrm>
          <a:prstGeom prst="rect">
            <a:avLst/>
          </a:prstGeom>
          <a:noFill/>
          <a:ln/>
        </p:spPr>
        <p:txBody>
          <a:bodyPr wrap="square" lIns="0" tIns="0" rIns="0" bIns="0" rtlCol="0" anchor="ctr"/>
          <a:lstStyle/>
          <a:p>
            <a:pPr indent="0" marL="0">
              <a:buNone/>
            </a:pPr>
            <a:r>
              <a:rPr lang="en-US" sz="1600" i="1" dirty="0">
                <a:solidFill>
                  <a:srgbClr val="B6C2D9"/>
                </a:solidFill>
                <a:latin typeface="Calibri" pitchFamily="34" charset="0"/>
                <a:ea typeface="Calibri" pitchFamily="34" charset="-122"/>
                <a:cs typeface="Calibri" pitchFamily="34" charset="-120"/>
              </a:rPr>
              <a:t>The “personal AI agent that does the work itself”</a:t>
            </a:r>
            <a:endParaRPr lang="en-US" sz="1600" dirty="0"/>
          </a:p>
        </p:txBody>
      </p:sp>
      <p:sp>
        <p:nvSpPr>
          <p:cNvPr id="8" name="Text 5"/>
          <p:cNvSpPr txBox="1"/>
          <p:nvPr/>
        </p:nvSpPr>
        <p:spPr>
          <a:xfrm>
            <a:off x="457200" y="4206240"/>
            <a:ext cx="5303520" cy="365760"/>
          </a:xfrm>
          <a:prstGeom prst="rect">
            <a:avLst/>
          </a:prstGeom>
          <a:noFill/>
          <a:ln/>
        </p:spPr>
        <p:txBody>
          <a:bodyPr wrap="square" lIns="0" tIns="0" rIns="0" bIns="0" rtlCol="0" anchor="ctr"/>
          <a:lstStyle/>
          <a:p>
            <a:pPr indent="0" marL="0">
              <a:buNone/>
            </a:pPr>
            <a:r>
              <a:rPr lang="en-US" sz="1400" b="1" dirty="0">
                <a:solidFill>
                  <a:srgbClr val="2DD4BF"/>
                </a:solidFill>
                <a:latin typeface="Calibri" pitchFamily="34" charset="0"/>
                <a:ea typeface="Calibri" pitchFamily="34" charset="-122"/>
                <a:cs typeface="Calibri" pitchFamily="34" charset="-120"/>
              </a:rPr>
              <a:t>Launched September 8, 2026</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F1B33"/>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54864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How do you use it?</a:t>
            </a:r>
            <a:endParaRPr lang="en-US" sz="3200" dirty="0"/>
          </a:p>
        </p:txBody>
      </p:sp>
      <p:sp>
        <p:nvSpPr>
          <p:cNvPr id="3" name="Text 1"/>
          <p:cNvSpPr txBox="1"/>
          <p:nvPr/>
        </p:nvSpPr>
        <p:spPr>
          <a:xfrm>
            <a:off x="457200" y="868680"/>
            <a:ext cx="8229600" cy="365760"/>
          </a:xfrm>
          <a:prstGeom prst="rect">
            <a:avLst/>
          </a:prstGeom>
          <a:noFill/>
          <a:ln/>
        </p:spPr>
        <p:txBody>
          <a:bodyPr wrap="square" lIns="0" tIns="0" rIns="0" bIns="0" rtlCol="0" anchor="ctr"/>
          <a:lstStyle/>
          <a:p>
            <a:pPr indent="0" marL="0">
              <a:buNone/>
            </a:pPr>
            <a:r>
              <a:rPr lang="en-US" sz="1800" i="1" dirty="0">
                <a:solidFill>
                  <a:srgbClr val="2DD4BF"/>
                </a:solidFill>
                <a:latin typeface="Calibri" pitchFamily="34" charset="0"/>
                <a:ea typeface="Calibri" pitchFamily="34" charset="-122"/>
                <a:cs typeface="Calibri" pitchFamily="34" charset="-120"/>
              </a:rPr>
              <a:t>An agent that keeps working after you close it</a:t>
            </a:r>
            <a:endParaRPr lang="en-US" sz="1800" dirty="0"/>
          </a:p>
        </p:txBody>
      </p:sp>
      <p:sp>
        <p:nvSpPr>
          <p:cNvPr id="4" name="Stat 1"/>
          <p:cNvSpPr/>
          <p:nvPr/>
        </p:nvSpPr>
        <p:spPr>
          <a:xfrm>
            <a:off x="457200" y="1463040"/>
            <a:ext cx="2651760" cy="1188720"/>
          </a:xfrm>
          <a:prstGeom prst="roundRect">
            <a:avLst>
              <a:gd name="adj" fmla="val 9231"/>
            </a:avLst>
          </a:prstGeom>
          <a:solidFill>
            <a:srgbClr val="1A2A4A"/>
          </a:solidFill>
          <a:ln/>
        </p:spPr>
      </p:sp>
      <p:sp>
        <p:nvSpPr>
          <p:cNvPr id="5" name="Text 3"/>
          <p:cNvSpPr txBox="1"/>
          <p:nvPr/>
        </p:nvSpPr>
        <p:spPr>
          <a:xfrm>
            <a:off x="640080" y="1600200"/>
            <a:ext cx="2286000" cy="548640"/>
          </a:xfrm>
          <a:prstGeom prst="rect">
            <a:avLst/>
          </a:prstGeom>
          <a:noFill/>
          <a:ln/>
        </p:spPr>
        <p:txBody>
          <a:bodyPr wrap="square" lIns="0" tIns="0" rIns="0" bIns="0" rtlCol="0" anchor="ctr"/>
          <a:lstStyle/>
          <a:p>
            <a:pPr indent="0" marL="0">
              <a:buNone/>
            </a:pPr>
            <a:r>
              <a:rPr lang="en-US" sz="2800" b="1" dirty="0">
                <a:solidFill>
                  <a:srgbClr val="2DD4BF"/>
                </a:solidFill>
                <a:latin typeface="Cambria" pitchFamily="34" charset="0"/>
                <a:ea typeface="Cambria" pitchFamily="34" charset="-122"/>
                <a:cs typeface="Cambria" pitchFamily="34" charset="-120"/>
              </a:rPr>
              <a:t>US adults</a:t>
            </a:r>
            <a:endParaRPr lang="en-US" sz="2800" dirty="0"/>
          </a:p>
        </p:txBody>
      </p:sp>
      <p:sp>
        <p:nvSpPr>
          <p:cNvPr id="6" name="Text 4"/>
          <p:cNvSpPr txBox="1"/>
          <p:nvPr/>
        </p:nvSpPr>
        <p:spPr>
          <a:xfrm>
            <a:off x="640080" y="2194560"/>
            <a:ext cx="2286000" cy="365760"/>
          </a:xfrm>
          <a:prstGeom prst="rect">
            <a:avLst/>
          </a:prstGeom>
          <a:noFill/>
          <a:ln/>
        </p:spPr>
        <p:txBody>
          <a:bodyPr wrap="square" lIns="0" tIns="0" rIns="0" bIns="0" rtlCol="0" anchor="t"/>
          <a:lstStyle/>
          <a:p>
            <a:pPr indent="0" marL="0">
              <a:buNone/>
            </a:pPr>
            <a:r>
              <a:rPr lang="en-US" sz="1400" dirty="0">
                <a:solidFill>
                  <a:srgbClr val="B6C2D9"/>
                </a:solidFill>
                <a:latin typeface="Calibri" pitchFamily="34" charset="0"/>
                <a:ea typeface="Calibri" pitchFamily="34" charset="-122"/>
                <a:cs typeface="Calibri" pitchFamily="34" charset="-120"/>
              </a:rPr>
              <a:t>Who can use it</a:t>
            </a:r>
            <a:endParaRPr lang="en-US" sz="1400" dirty="0"/>
          </a:p>
        </p:txBody>
      </p:sp>
      <p:sp>
        <p:nvSpPr>
          <p:cNvPr id="7" name="Stat 2"/>
          <p:cNvSpPr/>
          <p:nvPr/>
        </p:nvSpPr>
        <p:spPr>
          <a:xfrm>
            <a:off x="3246120" y="1463040"/>
            <a:ext cx="2651760" cy="1188720"/>
          </a:xfrm>
          <a:prstGeom prst="roundRect">
            <a:avLst>
              <a:gd name="adj" fmla="val 9231"/>
            </a:avLst>
          </a:prstGeom>
          <a:solidFill>
            <a:srgbClr val="1A2A4A"/>
          </a:solidFill>
          <a:ln/>
        </p:spPr>
      </p:sp>
      <p:sp>
        <p:nvSpPr>
          <p:cNvPr id="8" name="Text 6"/>
          <p:cNvSpPr txBox="1"/>
          <p:nvPr/>
        </p:nvSpPr>
        <p:spPr>
          <a:xfrm>
            <a:off x="3429000" y="1600200"/>
            <a:ext cx="2286000" cy="548640"/>
          </a:xfrm>
          <a:prstGeom prst="rect">
            <a:avLst/>
          </a:prstGeom>
          <a:noFill/>
          <a:ln/>
        </p:spPr>
        <p:txBody>
          <a:bodyPr wrap="square" lIns="0" tIns="0" rIns="0" bIns="0" rtlCol="0" anchor="ctr"/>
          <a:lstStyle/>
          <a:p>
            <a:pPr indent="0" marL="0">
              <a:buNone/>
            </a:pPr>
            <a:r>
              <a:rPr lang="en-US" sz="2400" b="1" dirty="0">
                <a:solidFill>
                  <a:srgbClr val="2DD4BF"/>
                </a:solidFill>
                <a:latin typeface="Cambria" pitchFamily="34" charset="0"/>
                <a:ea typeface="Cambria" pitchFamily="34" charset="-122"/>
                <a:cs typeface="Cambria" pitchFamily="34" charset="-120"/>
              </a:rPr>
              <a:t>$0 · $20 · $100</a:t>
            </a:r>
            <a:endParaRPr lang="en-US" sz="2400" dirty="0"/>
          </a:p>
        </p:txBody>
      </p:sp>
      <p:sp>
        <p:nvSpPr>
          <p:cNvPr id="9" name="Text 7"/>
          <p:cNvSpPr txBox="1"/>
          <p:nvPr/>
        </p:nvSpPr>
        <p:spPr>
          <a:xfrm>
            <a:off x="3429000" y="2194560"/>
            <a:ext cx="2286000" cy="365760"/>
          </a:xfrm>
          <a:prstGeom prst="rect">
            <a:avLst/>
          </a:prstGeom>
          <a:noFill/>
          <a:ln/>
        </p:spPr>
        <p:txBody>
          <a:bodyPr wrap="square" lIns="0" tIns="0" rIns="0" bIns="0" rtlCol="0" anchor="t"/>
          <a:lstStyle/>
          <a:p>
            <a:pPr indent="0" marL="0">
              <a:buNone/>
            </a:pPr>
            <a:r>
              <a:rPr lang="en-US" sz="1400" dirty="0">
                <a:solidFill>
                  <a:srgbClr val="B6C2D9"/>
                </a:solidFill>
                <a:latin typeface="Calibri" pitchFamily="34" charset="0"/>
                <a:ea typeface="Calibri" pitchFamily="34" charset="-122"/>
                <a:cs typeface="Calibri" pitchFamily="34" charset="-120"/>
              </a:rPr>
              <a:t>Free tier + paid plans monthly</a:t>
            </a:r>
            <a:endParaRPr lang="en-US" sz="1400" dirty="0"/>
          </a:p>
        </p:txBody>
      </p:sp>
      <p:sp>
        <p:nvSpPr>
          <p:cNvPr id="10" name="Stat 3"/>
          <p:cNvSpPr/>
          <p:nvPr/>
        </p:nvSpPr>
        <p:spPr>
          <a:xfrm>
            <a:off x="6035040" y="1463040"/>
            <a:ext cx="2651760" cy="1188720"/>
          </a:xfrm>
          <a:prstGeom prst="roundRect">
            <a:avLst>
              <a:gd name="adj" fmla="val 9231"/>
            </a:avLst>
          </a:prstGeom>
          <a:solidFill>
            <a:srgbClr val="1A2A4A"/>
          </a:solidFill>
          <a:ln/>
        </p:spPr>
      </p:sp>
      <p:sp>
        <p:nvSpPr>
          <p:cNvPr id="11" name="Text 9"/>
          <p:cNvSpPr txBox="1"/>
          <p:nvPr/>
        </p:nvSpPr>
        <p:spPr>
          <a:xfrm>
            <a:off x="6217920" y="1600200"/>
            <a:ext cx="2286000" cy="548640"/>
          </a:xfrm>
          <a:prstGeom prst="rect">
            <a:avLst/>
          </a:prstGeom>
          <a:noFill/>
          <a:ln/>
        </p:spPr>
        <p:txBody>
          <a:bodyPr wrap="square" lIns="0" tIns="0" rIns="0" bIns="0" rtlCol="0" anchor="ctr"/>
          <a:lstStyle/>
          <a:p>
            <a:pPr indent="0" marL="0">
              <a:buNone/>
            </a:pPr>
            <a:r>
              <a:rPr lang="en-US" sz="1700" b="1" dirty="0">
                <a:solidFill>
                  <a:srgbClr val="2DD4BF"/>
                </a:solidFill>
                <a:latin typeface="Cambria" pitchFamily="34" charset="0"/>
                <a:ea typeface="Cambria" pitchFamily="34" charset="-122"/>
                <a:cs typeface="Cambria" pitchFamily="34" charset="-120"/>
              </a:rPr>
              <a:t>App · Web · WhatsApp</a:t>
            </a:r>
            <a:endParaRPr lang="en-US" sz="1700" dirty="0"/>
          </a:p>
        </p:txBody>
      </p:sp>
      <p:sp>
        <p:nvSpPr>
          <p:cNvPr id="12" name="Text 10"/>
          <p:cNvSpPr txBox="1"/>
          <p:nvPr/>
        </p:nvSpPr>
        <p:spPr>
          <a:xfrm>
            <a:off x="6217920" y="2194560"/>
            <a:ext cx="2286000" cy="365760"/>
          </a:xfrm>
          <a:prstGeom prst="rect">
            <a:avLst/>
          </a:prstGeom>
          <a:noFill/>
          <a:ln/>
        </p:spPr>
        <p:txBody>
          <a:bodyPr wrap="square" lIns="0" tIns="0" rIns="0" bIns="0" rtlCol="0" anchor="t"/>
          <a:lstStyle/>
          <a:p>
            <a:pPr indent="0" marL="0">
              <a:buNone/>
            </a:pPr>
            <a:r>
              <a:rPr lang="en-US" sz="1400" dirty="0">
                <a:solidFill>
                  <a:srgbClr val="B6C2D9"/>
                </a:solidFill>
                <a:latin typeface="Calibri" pitchFamily="34" charset="0"/>
                <a:ea typeface="Calibri" pitchFamily="34" charset="-122"/>
                <a:cs typeface="Calibri" pitchFamily="34" charset="-120"/>
              </a:rPr>
              <a:t>Where you reach it</a:t>
            </a:r>
            <a:endParaRPr lang="en-US" sz="1400" dirty="0"/>
          </a:p>
        </p:txBody>
      </p:sp>
      <p:sp>
        <p:nvSpPr>
          <p:cNvPr id="13" name="Text 11"/>
          <p:cNvSpPr txBox="1"/>
          <p:nvPr/>
        </p:nvSpPr>
        <p:spPr>
          <a:xfrm>
            <a:off x="457200" y="2926080"/>
            <a:ext cx="8229600" cy="32004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Connects to apps you already use</a:t>
            </a:r>
            <a:endParaRPr lang="en-US" sz="1600" dirty="0"/>
          </a:p>
        </p:txBody>
      </p:sp>
      <p:sp>
        <p:nvSpPr>
          <p:cNvPr id="14" name="Shape 12"/>
          <p:cNvSpPr/>
          <p:nvPr/>
        </p:nvSpPr>
        <p:spPr>
          <a:xfrm>
            <a:off x="457200" y="3337560"/>
            <a:ext cx="1554480" cy="502920"/>
          </a:xfrm>
          <a:prstGeom prst="roundRect">
            <a:avLst>
              <a:gd name="adj" fmla="val 18182"/>
            </a:avLst>
          </a:prstGeom>
          <a:solidFill>
            <a:srgbClr val="1A2A4A"/>
          </a:solidFill>
          <a:ln/>
        </p:spPr>
      </p:sp>
      <p:pic>
        <p:nvPicPr>
          <p:cNvPr id="15" name="Image 0" descr="preencoded.png">    </p:cNvPr>
          <p:cNvPicPr>
            <a:picLocks noChangeAspect="1"/>
          </p:cNvPicPr>
          <p:nvPr/>
        </p:nvPicPr>
        <p:blipFill>
          <a:blip r:embed="rId1"/>
          <a:stretch>
            <a:fillRect/>
          </a:stretch>
        </p:blipFill>
        <p:spPr>
          <a:xfrm>
            <a:off x="594360" y="3474720"/>
            <a:ext cx="228600" cy="228600"/>
          </a:xfrm>
          <a:prstGeom prst="rect">
            <a:avLst/>
          </a:prstGeom>
        </p:spPr>
      </p:pic>
      <p:sp>
        <p:nvSpPr>
          <p:cNvPr id="16" name="Text 13"/>
          <p:cNvSpPr txBox="1"/>
          <p:nvPr/>
        </p:nvSpPr>
        <p:spPr>
          <a:xfrm>
            <a:off x="914400" y="3337560"/>
            <a:ext cx="1051560" cy="50292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Email</a:t>
            </a:r>
            <a:endParaRPr lang="en-US" sz="1400" dirty="0"/>
          </a:p>
        </p:txBody>
      </p:sp>
      <p:sp>
        <p:nvSpPr>
          <p:cNvPr id="17" name="Shape 14"/>
          <p:cNvSpPr/>
          <p:nvPr/>
        </p:nvSpPr>
        <p:spPr>
          <a:xfrm>
            <a:off x="2121408" y="3337560"/>
            <a:ext cx="1554480" cy="502920"/>
          </a:xfrm>
          <a:prstGeom prst="roundRect">
            <a:avLst>
              <a:gd name="adj" fmla="val 18182"/>
            </a:avLst>
          </a:prstGeom>
          <a:solidFill>
            <a:srgbClr val="1A2A4A"/>
          </a:solidFill>
          <a:ln/>
        </p:spPr>
      </p:sp>
      <p:pic>
        <p:nvPicPr>
          <p:cNvPr id="18" name="Image 1" descr="preencoded.png">    </p:cNvPr>
          <p:cNvPicPr>
            <a:picLocks noChangeAspect="1"/>
          </p:cNvPicPr>
          <p:nvPr/>
        </p:nvPicPr>
        <p:blipFill>
          <a:blip r:embed="rId2"/>
          <a:stretch>
            <a:fillRect/>
          </a:stretch>
        </p:blipFill>
        <p:spPr>
          <a:xfrm>
            <a:off x="2258568" y="3474720"/>
            <a:ext cx="228600" cy="228600"/>
          </a:xfrm>
          <a:prstGeom prst="rect">
            <a:avLst/>
          </a:prstGeom>
        </p:spPr>
      </p:pic>
      <p:sp>
        <p:nvSpPr>
          <p:cNvPr id="19" name="Text 15"/>
          <p:cNvSpPr txBox="1"/>
          <p:nvPr/>
        </p:nvSpPr>
        <p:spPr>
          <a:xfrm>
            <a:off x="2578608" y="3337560"/>
            <a:ext cx="1051560" cy="50292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Calendars</a:t>
            </a:r>
            <a:endParaRPr lang="en-US" sz="1400" dirty="0"/>
          </a:p>
        </p:txBody>
      </p:sp>
      <p:sp>
        <p:nvSpPr>
          <p:cNvPr id="20" name="Shape 16"/>
          <p:cNvSpPr/>
          <p:nvPr/>
        </p:nvSpPr>
        <p:spPr>
          <a:xfrm>
            <a:off x="3785616" y="3337560"/>
            <a:ext cx="1554480" cy="502920"/>
          </a:xfrm>
          <a:prstGeom prst="roundRect">
            <a:avLst>
              <a:gd name="adj" fmla="val 18182"/>
            </a:avLst>
          </a:prstGeom>
          <a:solidFill>
            <a:srgbClr val="1A2A4A"/>
          </a:solidFill>
          <a:ln/>
        </p:spPr>
      </p:sp>
      <p:pic>
        <p:nvPicPr>
          <p:cNvPr id="21" name="Image 2" descr="preencoded.png">    </p:cNvPr>
          <p:cNvPicPr>
            <a:picLocks noChangeAspect="1"/>
          </p:cNvPicPr>
          <p:nvPr/>
        </p:nvPicPr>
        <p:blipFill>
          <a:blip r:embed="rId3"/>
          <a:stretch>
            <a:fillRect/>
          </a:stretch>
        </p:blipFill>
        <p:spPr>
          <a:xfrm>
            <a:off x="3922776" y="3474720"/>
            <a:ext cx="228600" cy="228600"/>
          </a:xfrm>
          <a:prstGeom prst="rect">
            <a:avLst/>
          </a:prstGeom>
        </p:spPr>
      </p:pic>
      <p:sp>
        <p:nvSpPr>
          <p:cNvPr id="22" name="Text 17"/>
          <p:cNvSpPr txBox="1"/>
          <p:nvPr/>
        </p:nvSpPr>
        <p:spPr>
          <a:xfrm>
            <a:off x="4242816" y="3337560"/>
            <a:ext cx="1051560" cy="50292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Payments</a:t>
            </a:r>
            <a:endParaRPr lang="en-US" sz="1400" dirty="0"/>
          </a:p>
        </p:txBody>
      </p:sp>
      <p:sp>
        <p:nvSpPr>
          <p:cNvPr id="23" name="Shape 18"/>
          <p:cNvSpPr/>
          <p:nvPr/>
        </p:nvSpPr>
        <p:spPr>
          <a:xfrm>
            <a:off x="5449824" y="3337560"/>
            <a:ext cx="1554480" cy="502920"/>
          </a:xfrm>
          <a:prstGeom prst="roundRect">
            <a:avLst>
              <a:gd name="adj" fmla="val 18182"/>
            </a:avLst>
          </a:prstGeom>
          <a:solidFill>
            <a:srgbClr val="1A2A4A"/>
          </a:solidFill>
          <a:ln/>
        </p:spPr>
      </p:sp>
      <p:pic>
        <p:nvPicPr>
          <p:cNvPr id="24" name="Image 3" descr="preencoded.png">    </p:cNvPr>
          <p:cNvPicPr>
            <a:picLocks noChangeAspect="1"/>
          </p:cNvPicPr>
          <p:nvPr/>
        </p:nvPicPr>
        <p:blipFill>
          <a:blip r:embed="rId4"/>
          <a:stretch>
            <a:fillRect/>
          </a:stretch>
        </p:blipFill>
        <p:spPr>
          <a:xfrm>
            <a:off x="5586984" y="3474720"/>
            <a:ext cx="228600" cy="228600"/>
          </a:xfrm>
          <a:prstGeom prst="rect">
            <a:avLst/>
          </a:prstGeom>
        </p:spPr>
      </p:pic>
      <p:sp>
        <p:nvSpPr>
          <p:cNvPr id="25" name="Text 19"/>
          <p:cNvSpPr txBox="1"/>
          <p:nvPr/>
        </p:nvSpPr>
        <p:spPr>
          <a:xfrm>
            <a:off x="5907024" y="3337560"/>
            <a:ext cx="1051560" cy="50292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Shopping</a:t>
            </a:r>
            <a:endParaRPr lang="en-US" sz="1400" dirty="0"/>
          </a:p>
        </p:txBody>
      </p:sp>
      <p:sp>
        <p:nvSpPr>
          <p:cNvPr id="26" name="Shape 20"/>
          <p:cNvSpPr/>
          <p:nvPr/>
        </p:nvSpPr>
        <p:spPr>
          <a:xfrm>
            <a:off x="7114032" y="3337560"/>
            <a:ext cx="1554480" cy="502920"/>
          </a:xfrm>
          <a:prstGeom prst="roundRect">
            <a:avLst>
              <a:gd name="adj" fmla="val 18182"/>
            </a:avLst>
          </a:prstGeom>
          <a:solidFill>
            <a:srgbClr val="1A2A4A"/>
          </a:solidFill>
          <a:ln/>
        </p:spPr>
      </p:sp>
      <p:pic>
        <p:nvPicPr>
          <p:cNvPr id="27" name="Image 4" descr="preencoded.png">    </p:cNvPr>
          <p:cNvPicPr>
            <a:picLocks noChangeAspect="1"/>
          </p:cNvPicPr>
          <p:nvPr/>
        </p:nvPicPr>
        <p:blipFill>
          <a:blip r:embed="rId5"/>
          <a:stretch>
            <a:fillRect/>
          </a:stretch>
        </p:blipFill>
        <p:spPr>
          <a:xfrm>
            <a:off x="7251192" y="3474720"/>
            <a:ext cx="228600" cy="228600"/>
          </a:xfrm>
          <a:prstGeom prst="rect">
            <a:avLst/>
          </a:prstGeom>
        </p:spPr>
      </p:pic>
      <p:sp>
        <p:nvSpPr>
          <p:cNvPr id="28" name="Text 21"/>
          <p:cNvSpPr txBox="1"/>
          <p:nvPr/>
        </p:nvSpPr>
        <p:spPr>
          <a:xfrm>
            <a:off x="7571232" y="3337560"/>
            <a:ext cx="1051560" cy="50292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Health</a:t>
            </a:r>
            <a:endParaRPr lang="en-US" sz="1400" dirty="0"/>
          </a:p>
        </p:txBody>
      </p:sp>
      <p:sp>
        <p:nvSpPr>
          <p:cNvPr id="29" name="Text 22"/>
          <p:cNvSpPr txBox="1"/>
          <p:nvPr/>
        </p:nvSpPr>
        <p:spPr>
          <a:xfrm>
            <a:off x="457200" y="4206240"/>
            <a:ext cx="8229600" cy="411480"/>
          </a:xfrm>
          <a:prstGeom prst="rect">
            <a:avLst/>
          </a:prstGeom>
          <a:noFill/>
          <a:ln/>
        </p:spPr>
        <p:txBody>
          <a:bodyPr wrap="square" lIns="0" tIns="0" rIns="0" bIns="0" rtlCol="0" anchor="ctr"/>
          <a:lstStyle/>
          <a:p>
            <a:pPr algn="ctr" indent="0" marL="0">
              <a:buNone/>
            </a:pPr>
            <a:r>
              <a:rPr lang="en-US" sz="1800" b="1" dirty="0">
                <a:solidFill>
                  <a:srgbClr val="FBBF24"/>
                </a:solidFill>
                <a:latin typeface="Calibri" pitchFamily="34" charset="0"/>
                <a:ea typeface="Calibri" pitchFamily="34" charset="-122"/>
                <a:cs typeface="Calibri" pitchFamily="34" charset="-120"/>
              </a:rPr>
              <a:t>An agent with your inbox and your wallet: why trust it?</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F1B33"/>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54864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Answer one: Where it lives</a:t>
            </a:r>
            <a:endParaRPr lang="en-US" sz="3200" dirty="0"/>
          </a:p>
        </p:txBody>
      </p:sp>
      <p:sp>
        <p:nvSpPr>
          <p:cNvPr id="3" name="Text 1"/>
          <p:cNvSpPr txBox="1"/>
          <p:nvPr/>
        </p:nvSpPr>
        <p:spPr>
          <a:xfrm>
            <a:off x="457200" y="868680"/>
            <a:ext cx="8229600" cy="365760"/>
          </a:xfrm>
          <a:prstGeom prst="rect">
            <a:avLst/>
          </a:prstGeom>
          <a:noFill/>
          <a:ln/>
        </p:spPr>
        <p:txBody>
          <a:bodyPr wrap="square" lIns="0" tIns="0" rIns="0" bIns="0" rtlCol="0" anchor="ctr"/>
          <a:lstStyle/>
          <a:p>
            <a:pPr indent="0" marL="0">
              <a:buNone/>
            </a:pPr>
            <a:r>
              <a:rPr lang="en-US" sz="1800" i="1" dirty="0">
                <a:solidFill>
                  <a:srgbClr val="2DD4BF"/>
                </a:solidFill>
                <a:latin typeface="Calibri" pitchFamily="34" charset="0"/>
                <a:ea typeface="Calibri" pitchFamily="34" charset="-122"/>
                <a:cs typeface="Calibri" pitchFamily="34" charset="-120"/>
              </a:rPr>
              <a:t>Each user gets a dedicated cloud computer</a:t>
            </a:r>
            <a:endParaRPr lang="en-US" sz="1800" dirty="0"/>
          </a:p>
        </p:txBody>
      </p:sp>
      <p:sp>
        <p:nvSpPr>
          <p:cNvPr id="4" name="Secure VM"/>
          <p:cNvSpPr/>
          <p:nvPr/>
        </p:nvSpPr>
        <p:spPr>
          <a:xfrm>
            <a:off x="457200" y="1463040"/>
            <a:ext cx="8229600" cy="3017520"/>
          </a:xfrm>
          <a:prstGeom prst="roundRect">
            <a:avLst>
              <a:gd name="adj" fmla="val 3636"/>
            </a:avLst>
          </a:prstGeom>
          <a:solidFill>
            <a:srgbClr val="1A2A4A"/>
          </a:solidFill>
          <a:ln/>
        </p:spPr>
      </p:sp>
      <p:sp>
        <p:nvSpPr>
          <p:cNvPr id="5" name="Text 3"/>
          <p:cNvSpPr txBox="1"/>
          <p:nvPr/>
        </p:nvSpPr>
        <p:spPr>
          <a:xfrm>
            <a:off x="731520" y="1600200"/>
            <a:ext cx="3657600" cy="365760"/>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Muse Secure VM</a:t>
            </a:r>
            <a:endParaRPr lang="en-US" sz="2000" dirty="0"/>
          </a:p>
        </p:txBody>
      </p:sp>
      <p:sp>
        <p:nvSpPr>
          <p:cNvPr id="6" name="Sealed container"/>
          <p:cNvSpPr/>
          <p:nvPr/>
        </p:nvSpPr>
        <p:spPr>
          <a:xfrm>
            <a:off x="731520" y="2103120"/>
            <a:ext cx="4480560" cy="2148840"/>
          </a:xfrm>
          <a:prstGeom prst="roundRect">
            <a:avLst>
              <a:gd name="adj" fmla="val 4255"/>
            </a:avLst>
          </a:prstGeom>
          <a:solidFill>
            <a:srgbClr val="0F1B33"/>
          </a:solidFill>
          <a:ln w="25400">
            <a:solidFill>
              <a:srgbClr val="2DD4BF"/>
            </a:solidFill>
            <a:prstDash val="dash"/>
          </a:ln>
        </p:spPr>
      </p:sp>
      <p:sp>
        <p:nvSpPr>
          <p:cNvPr id="7" name="Text 5"/>
          <p:cNvSpPr txBox="1"/>
          <p:nvPr/>
        </p:nvSpPr>
        <p:spPr>
          <a:xfrm>
            <a:off x="960120" y="2212848"/>
            <a:ext cx="4023360" cy="320040"/>
          </a:xfrm>
          <a:prstGeom prst="rect">
            <a:avLst/>
          </a:prstGeom>
          <a:noFill/>
          <a:ln/>
        </p:spPr>
        <p:txBody>
          <a:bodyPr wrap="square" lIns="0" tIns="0" rIns="0" bIns="0" rtlCol="0" anchor="ctr"/>
          <a:lstStyle/>
          <a:p>
            <a:pPr indent="0" marL="0">
              <a:buNone/>
            </a:pPr>
            <a:r>
              <a:rPr lang="en-US" sz="1600" b="1" dirty="0">
                <a:solidFill>
                  <a:srgbClr val="2DD4BF"/>
                </a:solidFill>
                <a:latin typeface="Calibri" pitchFamily="34" charset="0"/>
                <a:ea typeface="Calibri" pitchFamily="34" charset="-122"/>
                <a:cs typeface="Calibri" pitchFamily="34" charset="-120"/>
              </a:rPr>
              <a:t>Sealed container</a:t>
            </a:r>
            <a:endParaRPr lang="en-US" sz="1600" dirty="0"/>
          </a:p>
        </p:txBody>
      </p:sp>
      <p:sp>
        <p:nvSpPr>
          <p:cNvPr id="8" name="Shape 6"/>
          <p:cNvSpPr/>
          <p:nvPr/>
        </p:nvSpPr>
        <p:spPr>
          <a:xfrm>
            <a:off x="960120" y="2697480"/>
            <a:ext cx="1920240" cy="1280160"/>
          </a:xfrm>
          <a:prstGeom prst="roundRect">
            <a:avLst>
              <a:gd name="adj" fmla="val 7143"/>
            </a:avLst>
          </a:prstGeom>
          <a:solidFill>
            <a:srgbClr val="1A2A4A"/>
          </a:solidFill>
          <a:ln/>
        </p:spPr>
      </p:sp>
      <p:sp>
        <p:nvSpPr>
          <p:cNvPr id="9" name="Shape 7"/>
          <p:cNvSpPr/>
          <p:nvPr/>
        </p:nvSpPr>
        <p:spPr>
          <a:xfrm>
            <a:off x="1691640" y="2834640"/>
            <a:ext cx="457200" cy="457200"/>
          </a:xfrm>
          <a:prstGeom prst="ellipse">
            <a:avLst/>
          </a:prstGeom>
          <a:solidFill>
            <a:srgbClr val="2DD4BF"/>
          </a:solidFill>
          <a:ln/>
        </p:spPr>
      </p:sp>
      <p:pic>
        <p:nvPicPr>
          <p:cNvPr id="10" name="Image 0" descr="preencoded.png">    </p:cNvPr>
          <p:cNvPicPr>
            <a:picLocks noChangeAspect="1"/>
          </p:cNvPicPr>
          <p:nvPr/>
        </p:nvPicPr>
        <p:blipFill>
          <a:blip r:embed="rId1"/>
          <a:stretch>
            <a:fillRect/>
          </a:stretch>
        </p:blipFill>
        <p:spPr>
          <a:xfrm>
            <a:off x="1796796" y="2939796"/>
            <a:ext cx="246888" cy="246888"/>
          </a:xfrm>
          <a:prstGeom prst="rect">
            <a:avLst/>
          </a:prstGeom>
        </p:spPr>
      </p:pic>
      <p:sp>
        <p:nvSpPr>
          <p:cNvPr id="11" name="Text 8"/>
          <p:cNvSpPr txBox="1"/>
          <p:nvPr/>
        </p:nvSpPr>
        <p:spPr>
          <a:xfrm>
            <a:off x="1051560" y="3429000"/>
            <a:ext cx="17373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Muse agent</a:t>
            </a:r>
            <a:endParaRPr lang="en-US" sz="1400" dirty="0"/>
          </a:p>
        </p:txBody>
      </p:sp>
      <p:sp>
        <p:nvSpPr>
          <p:cNvPr id="12" name="Shape 9"/>
          <p:cNvSpPr/>
          <p:nvPr/>
        </p:nvSpPr>
        <p:spPr>
          <a:xfrm>
            <a:off x="3017520" y="2697480"/>
            <a:ext cx="1920240" cy="1280160"/>
          </a:xfrm>
          <a:prstGeom prst="roundRect">
            <a:avLst>
              <a:gd name="adj" fmla="val 7143"/>
            </a:avLst>
          </a:prstGeom>
          <a:solidFill>
            <a:srgbClr val="1A2A4A"/>
          </a:solidFill>
          <a:ln/>
        </p:spPr>
      </p:sp>
      <p:sp>
        <p:nvSpPr>
          <p:cNvPr id="13" name="Shape 10"/>
          <p:cNvSpPr/>
          <p:nvPr/>
        </p:nvSpPr>
        <p:spPr>
          <a:xfrm>
            <a:off x="3749040" y="2834640"/>
            <a:ext cx="457200" cy="457200"/>
          </a:xfrm>
          <a:prstGeom prst="ellipse">
            <a:avLst/>
          </a:prstGeom>
          <a:solidFill>
            <a:srgbClr val="2DD4BF"/>
          </a:solidFill>
          <a:ln/>
        </p:spPr>
      </p:sp>
      <p:pic>
        <p:nvPicPr>
          <p:cNvPr id="14" name="Image 1" descr="preencoded.png">    </p:cNvPr>
          <p:cNvPicPr>
            <a:picLocks noChangeAspect="1"/>
          </p:cNvPicPr>
          <p:nvPr/>
        </p:nvPicPr>
        <p:blipFill>
          <a:blip r:embed="rId2"/>
          <a:stretch>
            <a:fillRect/>
          </a:stretch>
        </p:blipFill>
        <p:spPr>
          <a:xfrm>
            <a:off x="3854196" y="2939796"/>
            <a:ext cx="246888" cy="246888"/>
          </a:xfrm>
          <a:prstGeom prst="rect">
            <a:avLst/>
          </a:prstGeom>
        </p:spPr>
      </p:pic>
      <p:sp>
        <p:nvSpPr>
          <p:cNvPr id="15" name="Text 11"/>
          <p:cNvSpPr txBox="1"/>
          <p:nvPr/>
        </p:nvSpPr>
        <p:spPr>
          <a:xfrm>
            <a:off x="3108960" y="3429000"/>
            <a:ext cx="17373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Its own browser</a:t>
            </a:r>
            <a:endParaRPr lang="en-US" sz="1400" dirty="0"/>
          </a:p>
        </p:txBody>
      </p:sp>
      <p:sp>
        <p:nvSpPr>
          <p:cNvPr id="16" name="Safety services"/>
          <p:cNvSpPr/>
          <p:nvPr/>
        </p:nvSpPr>
        <p:spPr>
          <a:xfrm>
            <a:off x="5577840" y="2103120"/>
            <a:ext cx="2834640" cy="2148840"/>
          </a:xfrm>
          <a:prstGeom prst="roundRect">
            <a:avLst>
              <a:gd name="adj" fmla="val 4255"/>
            </a:avLst>
          </a:prstGeom>
          <a:solidFill>
            <a:srgbClr val="0F1B33"/>
          </a:solidFill>
          <a:ln/>
        </p:spPr>
      </p:sp>
      <p:sp>
        <p:nvSpPr>
          <p:cNvPr id="17" name="Shape 13"/>
          <p:cNvSpPr/>
          <p:nvPr/>
        </p:nvSpPr>
        <p:spPr>
          <a:xfrm>
            <a:off x="6766560" y="2286000"/>
            <a:ext cx="457200" cy="457200"/>
          </a:xfrm>
          <a:prstGeom prst="ellipse">
            <a:avLst/>
          </a:prstGeom>
          <a:solidFill>
            <a:srgbClr val="2DD4BF"/>
          </a:solidFill>
          <a:ln/>
        </p:spPr>
      </p:sp>
      <p:pic>
        <p:nvPicPr>
          <p:cNvPr id="18" name="Image 2" descr="preencoded.png">    </p:cNvPr>
          <p:cNvPicPr>
            <a:picLocks noChangeAspect="1"/>
          </p:cNvPicPr>
          <p:nvPr/>
        </p:nvPicPr>
        <p:blipFill>
          <a:blip r:embed="rId3"/>
          <a:stretch>
            <a:fillRect/>
          </a:stretch>
        </p:blipFill>
        <p:spPr>
          <a:xfrm>
            <a:off x="6871716" y="2391156"/>
            <a:ext cx="246888" cy="246888"/>
          </a:xfrm>
          <a:prstGeom prst="rect">
            <a:avLst/>
          </a:prstGeom>
        </p:spPr>
      </p:pic>
      <p:sp>
        <p:nvSpPr>
          <p:cNvPr id="19" name="Text 14"/>
          <p:cNvSpPr txBox="1"/>
          <p:nvPr/>
        </p:nvSpPr>
        <p:spPr>
          <a:xfrm>
            <a:off x="5760720" y="2880360"/>
            <a:ext cx="2468880" cy="3657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Safety services</a:t>
            </a:r>
            <a:endParaRPr lang="en-US" sz="1800" dirty="0"/>
          </a:p>
        </p:txBody>
      </p:sp>
      <p:sp>
        <p:nvSpPr>
          <p:cNvPr id="20" name="Text 15"/>
          <p:cNvSpPr txBox="1"/>
          <p:nvPr/>
        </p:nvSpPr>
        <p:spPr>
          <a:xfrm>
            <a:off x="5760720" y="3291840"/>
            <a:ext cx="2468880" cy="640080"/>
          </a:xfrm>
          <a:prstGeom prst="rect">
            <a:avLst/>
          </a:prstGeom>
          <a:noFill/>
          <a:ln/>
        </p:spPr>
        <p:txBody>
          <a:bodyPr wrap="square" lIns="0" tIns="0" rIns="0" bIns="0" rtlCol="0" anchor="ctr"/>
          <a:lstStyle/>
          <a:p>
            <a:pPr algn="ctr" indent="0" marL="0">
              <a:buNone/>
            </a:pPr>
            <a:r>
              <a:rPr lang="en-US" sz="1400" dirty="0">
                <a:solidFill>
                  <a:srgbClr val="B6C2D9"/>
                </a:solidFill>
                <a:latin typeface="Calibri" pitchFamily="34" charset="0"/>
                <a:ea typeface="Calibri" pitchFamily="34" charset="-122"/>
                <a:cs typeface="Calibri" pitchFamily="34" charset="-120"/>
              </a:rPr>
              <a:t>Run outside, around the agent</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F1B33"/>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54864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Answer two: Sentinel</a:t>
            </a:r>
            <a:endParaRPr lang="en-US" sz="3200" dirty="0"/>
          </a:p>
        </p:txBody>
      </p:sp>
      <p:sp>
        <p:nvSpPr>
          <p:cNvPr id="3" name="Text 1"/>
          <p:cNvSpPr txBox="1"/>
          <p:nvPr/>
        </p:nvSpPr>
        <p:spPr>
          <a:xfrm>
            <a:off x="457200" y="868680"/>
            <a:ext cx="8229600" cy="365760"/>
          </a:xfrm>
          <a:prstGeom prst="rect">
            <a:avLst/>
          </a:prstGeom>
          <a:noFill/>
          <a:ln/>
        </p:spPr>
        <p:txBody>
          <a:bodyPr wrap="square" lIns="0" tIns="0" rIns="0" bIns="0" rtlCol="0" anchor="ctr"/>
          <a:lstStyle/>
          <a:p>
            <a:pPr indent="0" marL="0">
              <a:buNone/>
            </a:pPr>
            <a:r>
              <a:rPr lang="en-US" sz="1800" i="1" dirty="0">
                <a:solidFill>
                  <a:srgbClr val="2DD4BF"/>
                </a:solidFill>
                <a:latin typeface="Calibri" pitchFamily="34" charset="0"/>
                <a:ea typeface="Calibri" pitchFamily="34" charset="-122"/>
                <a:cs typeface="Calibri" pitchFamily="34" charset="-120"/>
              </a:rPr>
              <a:t>A separate security agent on the same machine</a:t>
            </a:r>
            <a:endParaRPr lang="en-US" sz="1800" dirty="0"/>
          </a:p>
        </p:txBody>
      </p:sp>
      <p:sp>
        <p:nvSpPr>
          <p:cNvPr id="4" name="Muse"/>
          <p:cNvSpPr/>
          <p:nvPr/>
        </p:nvSpPr>
        <p:spPr>
          <a:xfrm>
            <a:off x="457200" y="1463040"/>
            <a:ext cx="2377440" cy="1737360"/>
          </a:xfrm>
          <a:prstGeom prst="roundRect">
            <a:avLst>
              <a:gd name="adj" fmla="val 6316"/>
            </a:avLst>
          </a:prstGeom>
          <a:solidFill>
            <a:srgbClr val="1A2A4A"/>
          </a:solidFill>
          <a:ln/>
        </p:spPr>
      </p:sp>
      <p:sp>
        <p:nvSpPr>
          <p:cNvPr id="5" name="Shape 3"/>
          <p:cNvSpPr/>
          <p:nvPr/>
        </p:nvSpPr>
        <p:spPr>
          <a:xfrm>
            <a:off x="1417320" y="1645920"/>
            <a:ext cx="457200" cy="457200"/>
          </a:xfrm>
          <a:prstGeom prst="ellipse">
            <a:avLst/>
          </a:prstGeom>
          <a:solidFill>
            <a:srgbClr val="2DD4BF"/>
          </a:solidFill>
          <a:ln/>
        </p:spPr>
      </p:sp>
      <p:pic>
        <p:nvPicPr>
          <p:cNvPr id="6" name="Image 0" descr="preencoded.png">    </p:cNvPr>
          <p:cNvPicPr>
            <a:picLocks noChangeAspect="1"/>
          </p:cNvPicPr>
          <p:nvPr/>
        </p:nvPicPr>
        <p:blipFill>
          <a:blip r:embed="rId1"/>
          <a:stretch>
            <a:fillRect/>
          </a:stretch>
        </p:blipFill>
        <p:spPr>
          <a:xfrm>
            <a:off x="1522476" y="1751076"/>
            <a:ext cx="246888" cy="246888"/>
          </a:xfrm>
          <a:prstGeom prst="rect">
            <a:avLst/>
          </a:prstGeom>
        </p:spPr>
      </p:pic>
      <p:sp>
        <p:nvSpPr>
          <p:cNvPr id="7" name="Text 4"/>
          <p:cNvSpPr txBox="1"/>
          <p:nvPr/>
        </p:nvSpPr>
        <p:spPr>
          <a:xfrm>
            <a:off x="548640" y="2240280"/>
            <a:ext cx="2194560" cy="36576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Muse</a:t>
            </a:r>
            <a:endParaRPr lang="en-US" sz="2200" dirty="0"/>
          </a:p>
        </p:txBody>
      </p:sp>
      <p:sp>
        <p:nvSpPr>
          <p:cNvPr id="8" name="Text 5"/>
          <p:cNvSpPr txBox="1"/>
          <p:nvPr/>
        </p:nvSpPr>
        <p:spPr>
          <a:xfrm>
            <a:off x="548640" y="2651760"/>
            <a:ext cx="2194560" cy="365760"/>
          </a:xfrm>
          <a:prstGeom prst="rect">
            <a:avLst/>
          </a:prstGeom>
          <a:noFill/>
          <a:ln/>
        </p:spPr>
        <p:txBody>
          <a:bodyPr wrap="square" lIns="0" tIns="0" rIns="0" bIns="0" rtlCol="0" anchor="ctr"/>
          <a:lstStyle/>
          <a:p>
            <a:pPr algn="ctr" indent="0" marL="0">
              <a:buNone/>
            </a:pPr>
            <a:r>
              <a:rPr lang="en-US" sz="1400" dirty="0">
                <a:solidFill>
                  <a:srgbClr val="B6C2D9"/>
                </a:solidFill>
                <a:latin typeface="Calibri" pitchFamily="34" charset="0"/>
                <a:ea typeface="Calibri" pitchFamily="34" charset="-122"/>
                <a:cs typeface="Calibri" pitchFamily="34" charset="-120"/>
              </a:rPr>
              <a:t>Can only propose actions</a:t>
            </a:r>
            <a:endParaRPr lang="en-US" sz="1400" dirty="0"/>
          </a:p>
        </p:txBody>
      </p:sp>
      <p:sp>
        <p:nvSpPr>
          <p:cNvPr id="9" name="Shape 6"/>
          <p:cNvSpPr/>
          <p:nvPr/>
        </p:nvSpPr>
        <p:spPr>
          <a:xfrm>
            <a:off x="2880360" y="2331720"/>
            <a:ext cx="731520" cy="0"/>
          </a:xfrm>
          <a:prstGeom prst="line">
            <a:avLst/>
          </a:prstGeom>
          <a:noFill/>
          <a:ln w="38100">
            <a:solidFill>
              <a:srgbClr val="2DD4BF"/>
            </a:solidFill>
            <a:prstDash val="solid"/>
            <a:tailEnd type="triangle"/>
          </a:ln>
        </p:spPr>
      </p:sp>
      <p:sp>
        <p:nvSpPr>
          <p:cNvPr id="10" name="Sentinel"/>
          <p:cNvSpPr/>
          <p:nvPr/>
        </p:nvSpPr>
        <p:spPr>
          <a:xfrm>
            <a:off x="3657600" y="1463040"/>
            <a:ext cx="2377440" cy="1737360"/>
          </a:xfrm>
          <a:prstGeom prst="roundRect">
            <a:avLst>
              <a:gd name="adj" fmla="val 6316"/>
            </a:avLst>
          </a:prstGeom>
          <a:solidFill>
            <a:srgbClr val="1A2A4A"/>
          </a:solidFill>
          <a:ln/>
        </p:spPr>
      </p:sp>
      <p:sp>
        <p:nvSpPr>
          <p:cNvPr id="11" name="Shape 8"/>
          <p:cNvSpPr/>
          <p:nvPr/>
        </p:nvSpPr>
        <p:spPr>
          <a:xfrm>
            <a:off x="4617720" y="1645920"/>
            <a:ext cx="457200" cy="457200"/>
          </a:xfrm>
          <a:prstGeom prst="ellipse">
            <a:avLst/>
          </a:prstGeom>
          <a:solidFill>
            <a:srgbClr val="2DD4BF"/>
          </a:solidFill>
          <a:ln/>
        </p:spPr>
      </p:sp>
      <p:pic>
        <p:nvPicPr>
          <p:cNvPr id="12" name="Image 1" descr="preencoded.png">    </p:cNvPr>
          <p:cNvPicPr>
            <a:picLocks noChangeAspect="1"/>
          </p:cNvPicPr>
          <p:nvPr/>
        </p:nvPicPr>
        <p:blipFill>
          <a:blip r:embed="rId2"/>
          <a:stretch>
            <a:fillRect/>
          </a:stretch>
        </p:blipFill>
        <p:spPr>
          <a:xfrm>
            <a:off x="4722876" y="1751076"/>
            <a:ext cx="246888" cy="246888"/>
          </a:xfrm>
          <a:prstGeom prst="rect">
            <a:avLst/>
          </a:prstGeom>
        </p:spPr>
      </p:pic>
      <p:sp>
        <p:nvSpPr>
          <p:cNvPr id="13" name="Text 9"/>
          <p:cNvSpPr txBox="1"/>
          <p:nvPr/>
        </p:nvSpPr>
        <p:spPr>
          <a:xfrm>
            <a:off x="3749040" y="2240280"/>
            <a:ext cx="2194560" cy="36576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Sentinel</a:t>
            </a:r>
            <a:endParaRPr lang="en-US" sz="2200" dirty="0"/>
          </a:p>
        </p:txBody>
      </p:sp>
      <p:sp>
        <p:nvSpPr>
          <p:cNvPr id="14" name="Text 10"/>
          <p:cNvSpPr txBox="1"/>
          <p:nvPr/>
        </p:nvSpPr>
        <p:spPr>
          <a:xfrm>
            <a:off x="3749040" y="2651760"/>
            <a:ext cx="2194560" cy="365760"/>
          </a:xfrm>
          <a:prstGeom prst="rect">
            <a:avLst/>
          </a:prstGeom>
          <a:noFill/>
          <a:ln/>
        </p:spPr>
        <p:txBody>
          <a:bodyPr wrap="square" lIns="0" tIns="0" rIns="0" bIns="0" rtlCol="0" anchor="ctr"/>
          <a:lstStyle/>
          <a:p>
            <a:pPr algn="ctr" indent="0" marL="0">
              <a:buNone/>
            </a:pPr>
            <a:r>
              <a:rPr lang="en-US" sz="1400" dirty="0">
                <a:solidFill>
                  <a:srgbClr val="B6C2D9"/>
                </a:solidFill>
                <a:latin typeface="Calibri" pitchFamily="34" charset="0"/>
                <a:ea typeface="Calibri" pitchFamily="34" charset="-122"/>
                <a:cs typeface="Calibri" pitchFamily="34" charset="-120"/>
              </a:rPr>
              <a:t>Decides</a:t>
            </a:r>
            <a:endParaRPr lang="en-US" sz="1400" dirty="0"/>
          </a:p>
        </p:txBody>
      </p:sp>
      <p:sp>
        <p:nvSpPr>
          <p:cNvPr id="15" name="Shape 11"/>
          <p:cNvSpPr/>
          <p:nvPr/>
        </p:nvSpPr>
        <p:spPr>
          <a:xfrm>
            <a:off x="6080760" y="2331720"/>
            <a:ext cx="731520" cy="0"/>
          </a:xfrm>
          <a:prstGeom prst="line">
            <a:avLst/>
          </a:prstGeom>
          <a:noFill/>
          <a:ln w="38100">
            <a:solidFill>
              <a:srgbClr val="2DD4BF"/>
            </a:solidFill>
            <a:prstDash val="solid"/>
            <a:tailEnd type="triangle"/>
          </a:ln>
        </p:spPr>
      </p:sp>
      <p:sp>
        <p:nvSpPr>
          <p:cNvPr id="16" name="Shape 12"/>
          <p:cNvSpPr/>
          <p:nvPr/>
        </p:nvSpPr>
        <p:spPr>
          <a:xfrm>
            <a:off x="6858000" y="1463040"/>
            <a:ext cx="1828800" cy="502920"/>
          </a:xfrm>
          <a:prstGeom prst="roundRect">
            <a:avLst>
              <a:gd name="adj" fmla="val 18182"/>
            </a:avLst>
          </a:prstGeom>
          <a:solidFill>
            <a:srgbClr val="1A2A4A"/>
          </a:solidFill>
          <a:ln/>
        </p:spPr>
      </p:sp>
      <p:sp>
        <p:nvSpPr>
          <p:cNvPr id="17" name="Shape 13"/>
          <p:cNvSpPr/>
          <p:nvPr/>
        </p:nvSpPr>
        <p:spPr>
          <a:xfrm>
            <a:off x="6995160" y="1618488"/>
            <a:ext cx="182880" cy="182880"/>
          </a:xfrm>
          <a:prstGeom prst="ellipse">
            <a:avLst/>
          </a:prstGeom>
          <a:solidFill>
            <a:srgbClr val="34D399"/>
          </a:solidFill>
          <a:ln/>
        </p:spPr>
      </p:sp>
      <p:sp>
        <p:nvSpPr>
          <p:cNvPr id="18" name="Text 14"/>
          <p:cNvSpPr txBox="1"/>
          <p:nvPr/>
        </p:nvSpPr>
        <p:spPr>
          <a:xfrm>
            <a:off x="7315200" y="1463040"/>
            <a:ext cx="1280160" cy="50292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Allow</a:t>
            </a:r>
            <a:endParaRPr lang="en-US" sz="1600" dirty="0"/>
          </a:p>
        </p:txBody>
      </p:sp>
      <p:sp>
        <p:nvSpPr>
          <p:cNvPr id="19" name="Shape 15"/>
          <p:cNvSpPr/>
          <p:nvPr/>
        </p:nvSpPr>
        <p:spPr>
          <a:xfrm>
            <a:off x="6858000" y="2057400"/>
            <a:ext cx="1828800" cy="502920"/>
          </a:xfrm>
          <a:prstGeom prst="roundRect">
            <a:avLst>
              <a:gd name="adj" fmla="val 18182"/>
            </a:avLst>
          </a:prstGeom>
          <a:solidFill>
            <a:srgbClr val="1A2A4A"/>
          </a:solidFill>
          <a:ln/>
        </p:spPr>
      </p:sp>
      <p:sp>
        <p:nvSpPr>
          <p:cNvPr id="20" name="Shape 16"/>
          <p:cNvSpPr/>
          <p:nvPr/>
        </p:nvSpPr>
        <p:spPr>
          <a:xfrm>
            <a:off x="6995160" y="2212848"/>
            <a:ext cx="182880" cy="182880"/>
          </a:xfrm>
          <a:prstGeom prst="ellipse">
            <a:avLst/>
          </a:prstGeom>
          <a:solidFill>
            <a:srgbClr val="F87171"/>
          </a:solidFill>
          <a:ln/>
        </p:spPr>
      </p:sp>
      <p:sp>
        <p:nvSpPr>
          <p:cNvPr id="21" name="Text 17"/>
          <p:cNvSpPr txBox="1"/>
          <p:nvPr/>
        </p:nvSpPr>
        <p:spPr>
          <a:xfrm>
            <a:off x="7315200" y="2057400"/>
            <a:ext cx="1280160" cy="50292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Deny</a:t>
            </a:r>
            <a:endParaRPr lang="en-US" sz="1600" dirty="0"/>
          </a:p>
        </p:txBody>
      </p:sp>
      <p:sp>
        <p:nvSpPr>
          <p:cNvPr id="22" name="Shape 18"/>
          <p:cNvSpPr/>
          <p:nvPr/>
        </p:nvSpPr>
        <p:spPr>
          <a:xfrm>
            <a:off x="6858000" y="2651760"/>
            <a:ext cx="1828800" cy="502920"/>
          </a:xfrm>
          <a:prstGeom prst="roundRect">
            <a:avLst>
              <a:gd name="adj" fmla="val 18182"/>
            </a:avLst>
          </a:prstGeom>
          <a:solidFill>
            <a:srgbClr val="1A2A4A"/>
          </a:solidFill>
          <a:ln/>
        </p:spPr>
      </p:sp>
      <p:sp>
        <p:nvSpPr>
          <p:cNvPr id="23" name="Shape 19"/>
          <p:cNvSpPr/>
          <p:nvPr/>
        </p:nvSpPr>
        <p:spPr>
          <a:xfrm>
            <a:off x="6995160" y="2807208"/>
            <a:ext cx="182880" cy="182880"/>
          </a:xfrm>
          <a:prstGeom prst="ellipse">
            <a:avLst/>
          </a:prstGeom>
          <a:solidFill>
            <a:srgbClr val="FBBF24"/>
          </a:solidFill>
          <a:ln/>
        </p:spPr>
      </p:sp>
      <p:sp>
        <p:nvSpPr>
          <p:cNvPr id="24" name="Text 20"/>
          <p:cNvSpPr txBox="1"/>
          <p:nvPr/>
        </p:nvSpPr>
        <p:spPr>
          <a:xfrm>
            <a:off x="7315200" y="2651760"/>
            <a:ext cx="1280160" cy="50292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Ask you</a:t>
            </a:r>
            <a:endParaRPr lang="en-US" sz="1600" dirty="0"/>
          </a:p>
        </p:txBody>
      </p:sp>
      <p:sp>
        <p:nvSpPr>
          <p:cNvPr id="25" name="Point 1"/>
          <p:cNvSpPr/>
          <p:nvPr/>
        </p:nvSpPr>
        <p:spPr>
          <a:xfrm>
            <a:off x="457200" y="3474720"/>
            <a:ext cx="4023360" cy="1005840"/>
          </a:xfrm>
          <a:prstGeom prst="roundRect">
            <a:avLst>
              <a:gd name="adj" fmla="val 10909"/>
            </a:avLst>
          </a:prstGeom>
          <a:solidFill>
            <a:srgbClr val="1A2A4A"/>
          </a:solidFill>
          <a:ln/>
        </p:spPr>
      </p:sp>
      <p:pic>
        <p:nvPicPr>
          <p:cNvPr id="26" name="Image 2" descr="preencoded.png">    </p:cNvPr>
          <p:cNvPicPr>
            <a:picLocks noChangeAspect="1"/>
          </p:cNvPicPr>
          <p:nvPr/>
        </p:nvPicPr>
        <p:blipFill>
          <a:blip r:embed="rId3"/>
          <a:stretch>
            <a:fillRect/>
          </a:stretch>
        </p:blipFill>
        <p:spPr>
          <a:xfrm>
            <a:off x="685800" y="3840480"/>
            <a:ext cx="274320" cy="274320"/>
          </a:xfrm>
          <a:prstGeom prst="rect">
            <a:avLst/>
          </a:prstGeom>
        </p:spPr>
      </p:pic>
      <p:sp>
        <p:nvSpPr>
          <p:cNvPr id="27" name="Text 22"/>
          <p:cNvSpPr txBox="1"/>
          <p:nvPr/>
        </p:nvSpPr>
        <p:spPr>
          <a:xfrm>
            <a:off x="1188720" y="3520440"/>
            <a:ext cx="3108960" cy="91440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Checks every outgoing network request</a:t>
            </a:r>
            <a:endParaRPr lang="en-US" sz="1400" dirty="0"/>
          </a:p>
        </p:txBody>
      </p:sp>
      <p:sp>
        <p:nvSpPr>
          <p:cNvPr id="28" name="Point 2"/>
          <p:cNvSpPr/>
          <p:nvPr/>
        </p:nvSpPr>
        <p:spPr>
          <a:xfrm>
            <a:off x="4663440" y="3474720"/>
            <a:ext cx="4023360" cy="1005840"/>
          </a:xfrm>
          <a:prstGeom prst="roundRect">
            <a:avLst>
              <a:gd name="adj" fmla="val 10909"/>
            </a:avLst>
          </a:prstGeom>
          <a:solidFill>
            <a:srgbClr val="1A2A4A"/>
          </a:solidFill>
          <a:ln/>
        </p:spPr>
      </p:sp>
      <p:pic>
        <p:nvPicPr>
          <p:cNvPr id="29" name="Image 3" descr="preencoded.png">    </p:cNvPr>
          <p:cNvPicPr>
            <a:picLocks noChangeAspect="1"/>
          </p:cNvPicPr>
          <p:nvPr/>
        </p:nvPicPr>
        <p:blipFill>
          <a:blip r:embed="rId4"/>
          <a:stretch>
            <a:fillRect/>
          </a:stretch>
        </p:blipFill>
        <p:spPr>
          <a:xfrm>
            <a:off x="4892040" y="3840480"/>
            <a:ext cx="274320" cy="274320"/>
          </a:xfrm>
          <a:prstGeom prst="rect">
            <a:avLst/>
          </a:prstGeom>
        </p:spPr>
      </p:pic>
      <p:sp>
        <p:nvSpPr>
          <p:cNvPr id="30" name="Text 24"/>
          <p:cNvSpPr txBox="1"/>
          <p:nvPr/>
        </p:nvSpPr>
        <p:spPr>
          <a:xfrm>
            <a:off x="5394960" y="3520440"/>
            <a:ext cx="3108960" cy="91440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Approvals appear in the Muse app, not the chat, so the agent can’t talk you into them</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F1B33"/>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54864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Answer three: Credentials and payments</a:t>
            </a:r>
            <a:endParaRPr lang="en-US" sz="3200" dirty="0"/>
          </a:p>
        </p:txBody>
      </p:sp>
      <p:sp>
        <p:nvSpPr>
          <p:cNvPr id="3" name="Text 1"/>
          <p:cNvSpPr txBox="1"/>
          <p:nvPr/>
        </p:nvSpPr>
        <p:spPr>
          <a:xfrm>
            <a:off x="457200" y="868680"/>
            <a:ext cx="8229600" cy="365760"/>
          </a:xfrm>
          <a:prstGeom prst="rect">
            <a:avLst/>
          </a:prstGeom>
          <a:noFill/>
          <a:ln/>
        </p:spPr>
        <p:txBody>
          <a:bodyPr wrap="square" lIns="0" tIns="0" rIns="0" bIns="0" rtlCol="0" anchor="ctr"/>
          <a:lstStyle/>
          <a:p>
            <a:pPr indent="0" marL="0">
              <a:buNone/>
            </a:pPr>
            <a:r>
              <a:rPr lang="en-US" sz="1800" i="1" dirty="0">
                <a:solidFill>
                  <a:srgbClr val="2DD4BF"/>
                </a:solidFill>
                <a:latin typeface="Calibri" pitchFamily="34" charset="0"/>
                <a:ea typeface="Calibri" pitchFamily="34" charset="-122"/>
                <a:cs typeface="Calibri" pitchFamily="34" charset="-120"/>
              </a:rPr>
              <a:t>The agent never holds your real secrets</a:t>
            </a:r>
            <a:endParaRPr lang="en-US" sz="1800" dirty="0"/>
          </a:p>
        </p:txBody>
      </p:sp>
      <p:sp>
        <p:nvSpPr>
          <p:cNvPr id="4" name="Logins card"/>
          <p:cNvSpPr/>
          <p:nvPr/>
        </p:nvSpPr>
        <p:spPr>
          <a:xfrm>
            <a:off x="457200" y="1463040"/>
            <a:ext cx="4023360" cy="2743200"/>
          </a:xfrm>
          <a:prstGeom prst="roundRect">
            <a:avLst>
              <a:gd name="adj" fmla="val 4000"/>
            </a:avLst>
          </a:prstGeom>
          <a:solidFill>
            <a:srgbClr val="1A2A4A"/>
          </a:solidFill>
          <a:ln/>
        </p:spPr>
      </p:sp>
      <p:sp>
        <p:nvSpPr>
          <p:cNvPr id="5" name="Shape 3"/>
          <p:cNvSpPr/>
          <p:nvPr/>
        </p:nvSpPr>
        <p:spPr>
          <a:xfrm>
            <a:off x="685800" y="1645920"/>
            <a:ext cx="457200" cy="457200"/>
          </a:xfrm>
          <a:prstGeom prst="ellipse">
            <a:avLst/>
          </a:prstGeom>
          <a:solidFill>
            <a:srgbClr val="2DD4BF"/>
          </a:solidFill>
          <a:ln/>
        </p:spPr>
      </p:sp>
      <p:pic>
        <p:nvPicPr>
          <p:cNvPr id="6" name="Image 0" descr="preencoded.png">    </p:cNvPr>
          <p:cNvPicPr>
            <a:picLocks noChangeAspect="1"/>
          </p:cNvPicPr>
          <p:nvPr/>
        </p:nvPicPr>
        <p:blipFill>
          <a:blip r:embed="rId1"/>
          <a:stretch>
            <a:fillRect/>
          </a:stretch>
        </p:blipFill>
        <p:spPr>
          <a:xfrm>
            <a:off x="790956" y="1751076"/>
            <a:ext cx="246888" cy="246888"/>
          </a:xfrm>
          <a:prstGeom prst="rect">
            <a:avLst/>
          </a:prstGeom>
        </p:spPr>
      </p:pic>
      <p:sp>
        <p:nvSpPr>
          <p:cNvPr id="7" name="Text 4"/>
          <p:cNvSpPr txBox="1"/>
          <p:nvPr/>
        </p:nvSpPr>
        <p:spPr>
          <a:xfrm>
            <a:off x="1280160" y="1645920"/>
            <a:ext cx="2743200" cy="457200"/>
          </a:xfrm>
          <a:prstGeom prst="rect">
            <a:avLst/>
          </a:prstGeom>
          <a:noFill/>
          <a:ln/>
        </p:spPr>
        <p:txBody>
          <a:bodyPr wrap="square" lIns="0" tIns="0" rIns="0" bIns="0"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Logins</a:t>
            </a:r>
            <a:endParaRPr lang="en-US" sz="2400" dirty="0"/>
          </a:p>
        </p:txBody>
      </p:sp>
      <p:pic>
        <p:nvPicPr>
          <p:cNvPr id="8" name="Image 1" descr="preencoded.png">    </p:cNvPr>
          <p:cNvPicPr>
            <a:picLocks noChangeAspect="1"/>
          </p:cNvPicPr>
          <p:nvPr/>
        </p:nvPicPr>
        <p:blipFill>
          <a:blip r:embed="rId2"/>
          <a:stretch>
            <a:fillRect/>
          </a:stretch>
        </p:blipFill>
        <p:spPr>
          <a:xfrm>
            <a:off x="731520" y="2359152"/>
            <a:ext cx="219456" cy="219456"/>
          </a:xfrm>
          <a:prstGeom prst="rect">
            <a:avLst/>
          </a:prstGeom>
        </p:spPr>
      </p:pic>
      <p:sp>
        <p:nvSpPr>
          <p:cNvPr id="9" name="Text 5"/>
          <p:cNvSpPr txBox="1"/>
          <p:nvPr/>
        </p:nvSpPr>
        <p:spPr>
          <a:xfrm>
            <a:off x="1143000" y="2286000"/>
            <a:ext cx="310896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Muse hands the agent stand-in tokens</a:t>
            </a:r>
            <a:endParaRPr lang="en-US" sz="1400" dirty="0"/>
          </a:p>
        </p:txBody>
      </p:sp>
      <p:pic>
        <p:nvPicPr>
          <p:cNvPr id="10" name="Image 2" descr="preencoded.png">    </p:cNvPr>
          <p:cNvPicPr>
            <a:picLocks noChangeAspect="1"/>
          </p:cNvPicPr>
          <p:nvPr/>
        </p:nvPicPr>
        <p:blipFill>
          <a:blip r:embed="rId3"/>
          <a:stretch>
            <a:fillRect/>
          </a:stretch>
        </p:blipFill>
        <p:spPr>
          <a:xfrm>
            <a:off x="731520" y="2798064"/>
            <a:ext cx="219456" cy="219456"/>
          </a:xfrm>
          <a:prstGeom prst="rect">
            <a:avLst/>
          </a:prstGeom>
        </p:spPr>
      </p:pic>
      <p:sp>
        <p:nvSpPr>
          <p:cNvPr id="11" name="Text 6"/>
          <p:cNvSpPr txBox="1"/>
          <p:nvPr/>
        </p:nvSpPr>
        <p:spPr>
          <a:xfrm>
            <a:off x="1143000" y="2724912"/>
            <a:ext cx="310896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Sentinel approves the action</a:t>
            </a:r>
            <a:endParaRPr lang="en-US" sz="1400" dirty="0"/>
          </a:p>
        </p:txBody>
      </p:sp>
      <p:pic>
        <p:nvPicPr>
          <p:cNvPr id="12" name="Image 3" descr="preencoded.png">    </p:cNvPr>
          <p:cNvPicPr>
            <a:picLocks noChangeAspect="1"/>
          </p:cNvPicPr>
          <p:nvPr/>
        </p:nvPicPr>
        <p:blipFill>
          <a:blip r:embed="rId4"/>
          <a:stretch>
            <a:fillRect/>
          </a:stretch>
        </p:blipFill>
        <p:spPr>
          <a:xfrm>
            <a:off x="731520" y="3236976"/>
            <a:ext cx="219456" cy="219456"/>
          </a:xfrm>
          <a:prstGeom prst="rect">
            <a:avLst/>
          </a:prstGeom>
        </p:spPr>
      </p:pic>
      <p:sp>
        <p:nvSpPr>
          <p:cNvPr id="13" name="Text 7"/>
          <p:cNvSpPr txBox="1"/>
          <p:nvPr/>
        </p:nvSpPr>
        <p:spPr>
          <a:xfrm>
            <a:off x="1143000" y="3163824"/>
            <a:ext cx="310896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Real credentials are swapped in only after approval</a:t>
            </a:r>
            <a:endParaRPr lang="en-US" sz="1400" dirty="0"/>
          </a:p>
        </p:txBody>
      </p:sp>
      <p:sp>
        <p:nvSpPr>
          <p:cNvPr id="14" name="Text 8"/>
          <p:cNvSpPr txBox="1"/>
          <p:nvPr/>
        </p:nvSpPr>
        <p:spPr>
          <a:xfrm>
            <a:off x="731520" y="3657600"/>
            <a:ext cx="3474720" cy="457200"/>
          </a:xfrm>
          <a:prstGeom prst="rect">
            <a:avLst/>
          </a:prstGeom>
          <a:noFill/>
          <a:ln/>
        </p:spPr>
        <p:txBody>
          <a:bodyPr wrap="square" lIns="0" tIns="0" rIns="0" bIns="0" rtlCol="0" anchor="ctr"/>
          <a:lstStyle/>
          <a:p>
            <a:pPr indent="0" marL="0">
              <a:buNone/>
            </a:pPr>
            <a:r>
              <a:rPr lang="en-US" sz="1200" i="1" dirty="0">
                <a:solidFill>
                  <a:srgbClr val="B6C2D9"/>
                </a:solidFill>
                <a:latin typeface="Calibri" pitchFamily="34" charset="0"/>
                <a:ea typeface="Calibri" pitchFamily="34" charset="-122"/>
                <a:cs typeface="Calibri" pitchFamily="34" charset="-120"/>
              </a:rPr>
              <a:t>A malicious email or web page can’t leak a password the agent never had.</a:t>
            </a:r>
            <a:endParaRPr lang="en-US" sz="1200" dirty="0"/>
          </a:p>
        </p:txBody>
      </p:sp>
      <p:sp>
        <p:nvSpPr>
          <p:cNvPr id="15" name="Payments card"/>
          <p:cNvSpPr/>
          <p:nvPr/>
        </p:nvSpPr>
        <p:spPr>
          <a:xfrm>
            <a:off x="4663440" y="1463040"/>
            <a:ext cx="4023360" cy="2743200"/>
          </a:xfrm>
          <a:prstGeom prst="roundRect">
            <a:avLst>
              <a:gd name="adj" fmla="val 4000"/>
            </a:avLst>
          </a:prstGeom>
          <a:solidFill>
            <a:srgbClr val="1A2A4A"/>
          </a:solidFill>
          <a:ln/>
        </p:spPr>
      </p:sp>
      <p:sp>
        <p:nvSpPr>
          <p:cNvPr id="16" name="Shape 10"/>
          <p:cNvSpPr/>
          <p:nvPr/>
        </p:nvSpPr>
        <p:spPr>
          <a:xfrm>
            <a:off x="4892040" y="1645920"/>
            <a:ext cx="457200" cy="457200"/>
          </a:xfrm>
          <a:prstGeom prst="ellipse">
            <a:avLst/>
          </a:prstGeom>
          <a:solidFill>
            <a:srgbClr val="2DD4BF"/>
          </a:solidFill>
          <a:ln/>
        </p:spPr>
      </p:sp>
      <p:pic>
        <p:nvPicPr>
          <p:cNvPr id="17" name="Image 4" descr="preencoded.png">    </p:cNvPr>
          <p:cNvPicPr>
            <a:picLocks noChangeAspect="1"/>
          </p:cNvPicPr>
          <p:nvPr/>
        </p:nvPicPr>
        <p:blipFill>
          <a:blip r:embed="rId5"/>
          <a:stretch>
            <a:fillRect/>
          </a:stretch>
        </p:blipFill>
        <p:spPr>
          <a:xfrm>
            <a:off x="4997196" y="1751076"/>
            <a:ext cx="246888" cy="246888"/>
          </a:xfrm>
          <a:prstGeom prst="rect">
            <a:avLst/>
          </a:prstGeom>
        </p:spPr>
      </p:pic>
      <p:sp>
        <p:nvSpPr>
          <p:cNvPr id="18" name="Text 11"/>
          <p:cNvSpPr txBox="1"/>
          <p:nvPr/>
        </p:nvSpPr>
        <p:spPr>
          <a:xfrm>
            <a:off x="5486400" y="1645920"/>
            <a:ext cx="2743200" cy="457200"/>
          </a:xfrm>
          <a:prstGeom prst="rect">
            <a:avLst/>
          </a:prstGeom>
          <a:noFill/>
          <a:ln/>
        </p:spPr>
        <p:txBody>
          <a:bodyPr wrap="square" lIns="0" tIns="0" rIns="0" bIns="0"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Payments</a:t>
            </a:r>
            <a:endParaRPr lang="en-US" sz="2400" dirty="0"/>
          </a:p>
        </p:txBody>
      </p:sp>
      <p:pic>
        <p:nvPicPr>
          <p:cNvPr id="19" name="Image 5" descr="preencoded.png">    </p:cNvPr>
          <p:cNvPicPr>
            <a:picLocks noChangeAspect="1"/>
          </p:cNvPicPr>
          <p:nvPr/>
        </p:nvPicPr>
        <p:blipFill>
          <a:blip r:embed="rId6"/>
          <a:stretch>
            <a:fillRect/>
          </a:stretch>
        </p:blipFill>
        <p:spPr>
          <a:xfrm>
            <a:off x="4937760" y="2359152"/>
            <a:ext cx="219456" cy="219456"/>
          </a:xfrm>
          <a:prstGeom prst="rect">
            <a:avLst/>
          </a:prstGeom>
        </p:spPr>
      </p:pic>
      <p:sp>
        <p:nvSpPr>
          <p:cNvPr id="20" name="Text 12"/>
          <p:cNvSpPr txBox="1"/>
          <p:nvPr/>
        </p:nvSpPr>
        <p:spPr>
          <a:xfrm>
            <a:off x="5349240" y="2286000"/>
            <a:ext cx="310896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One-time card from Link by Stripe</a:t>
            </a:r>
            <a:endParaRPr lang="en-US" sz="1400" dirty="0"/>
          </a:p>
        </p:txBody>
      </p:sp>
      <p:pic>
        <p:nvPicPr>
          <p:cNvPr id="21" name="Image 6" descr="preencoded.png">    </p:cNvPr>
          <p:cNvPicPr>
            <a:picLocks noChangeAspect="1"/>
          </p:cNvPicPr>
          <p:nvPr/>
        </p:nvPicPr>
        <p:blipFill>
          <a:blip r:embed="rId7"/>
          <a:stretch>
            <a:fillRect/>
          </a:stretch>
        </p:blipFill>
        <p:spPr>
          <a:xfrm>
            <a:off x="4937760" y="2798064"/>
            <a:ext cx="219456" cy="219456"/>
          </a:xfrm>
          <a:prstGeom prst="rect">
            <a:avLst/>
          </a:prstGeom>
        </p:spPr>
      </p:pic>
      <p:sp>
        <p:nvSpPr>
          <p:cNvPr id="22" name="Text 13"/>
          <p:cNvSpPr txBox="1"/>
          <p:nvPr/>
        </p:nvSpPr>
        <p:spPr>
          <a:xfrm>
            <a:off x="5349240" y="2724912"/>
            <a:ext cx="310896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Tied to one merchant and one amount</a:t>
            </a:r>
            <a:endParaRPr lang="en-US" sz="1400" dirty="0"/>
          </a:p>
        </p:txBody>
      </p:sp>
      <p:pic>
        <p:nvPicPr>
          <p:cNvPr id="23" name="Image 7" descr="preencoded.png">    </p:cNvPr>
          <p:cNvPicPr>
            <a:picLocks noChangeAspect="1"/>
          </p:cNvPicPr>
          <p:nvPr/>
        </p:nvPicPr>
        <p:blipFill>
          <a:blip r:embed="rId8"/>
          <a:stretch>
            <a:fillRect/>
          </a:stretch>
        </p:blipFill>
        <p:spPr>
          <a:xfrm>
            <a:off x="4937760" y="3236976"/>
            <a:ext cx="219456" cy="219456"/>
          </a:xfrm>
          <a:prstGeom prst="rect">
            <a:avLst/>
          </a:prstGeom>
        </p:spPr>
      </p:pic>
      <p:sp>
        <p:nvSpPr>
          <p:cNvPr id="24" name="Text 14"/>
          <p:cNvSpPr txBox="1"/>
          <p:nvPr/>
        </p:nvSpPr>
        <p:spPr>
          <a:xfrm>
            <a:off x="5349240" y="3163824"/>
            <a:ext cx="310896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You green-light every purchase before it’s approved</a:t>
            </a:r>
            <a:endParaRPr lang="en-US" sz="1400" dirty="0"/>
          </a:p>
        </p:txBody>
      </p:sp>
      <p:sp>
        <p:nvSpPr>
          <p:cNvPr id="25" name="Text 15"/>
          <p:cNvSpPr txBox="1"/>
          <p:nvPr/>
        </p:nvSpPr>
        <p:spPr>
          <a:xfrm>
            <a:off x="4937760" y="3657600"/>
            <a:ext cx="3474720" cy="457200"/>
          </a:xfrm>
          <a:prstGeom prst="rect">
            <a:avLst/>
          </a:prstGeom>
          <a:noFill/>
          <a:ln/>
        </p:spPr>
        <p:txBody>
          <a:bodyPr wrap="square" lIns="0" tIns="0" rIns="0" bIns="0" rtlCol="0" anchor="ctr"/>
          <a:lstStyle/>
          <a:p>
            <a:pPr indent="0" marL="0">
              <a:buNone/>
            </a:pPr>
            <a:r>
              <a:rPr lang="en-US" sz="1200" i="1" dirty="0">
                <a:solidFill>
                  <a:srgbClr val="B6C2D9"/>
                </a:solidFill>
                <a:latin typeface="Calibri" pitchFamily="34" charset="0"/>
                <a:ea typeface="Calibri" pitchFamily="34" charset="-122"/>
                <a:cs typeface="Calibri" pitchFamily="34" charset="-120"/>
              </a:rPr>
              <a:t>Per Meta, nothing is spent without your approval.</a:t>
            </a:r>
            <a:endParaRPr lang="en-US" sz="1200" dirty="0"/>
          </a:p>
        </p:txBody>
      </p:sp>
      <p:sp>
        <p:nvSpPr>
          <p:cNvPr id="26" name="Text 16"/>
          <p:cNvSpPr txBox="1"/>
          <p:nvPr/>
        </p:nvSpPr>
        <p:spPr>
          <a:xfrm>
            <a:off x="457200" y="4434840"/>
            <a:ext cx="8229600" cy="365760"/>
          </a:xfrm>
          <a:prstGeom prst="rect">
            <a:avLst/>
          </a:prstGeom>
          <a:noFill/>
          <a:ln/>
        </p:spPr>
        <p:txBody>
          <a:bodyPr wrap="square" lIns="0" tIns="0" rIns="0" bIns="0" rtlCol="0" anchor="ctr"/>
          <a:lstStyle/>
          <a:p>
            <a:pPr algn="ctr" indent="0" marL="0">
              <a:buNone/>
            </a:pPr>
            <a:r>
              <a:rPr lang="en-US" sz="1400" b="1" dirty="0">
                <a:solidFill>
                  <a:srgbClr val="2DD4BF"/>
                </a:solidFill>
                <a:latin typeface="Calibri" pitchFamily="34" charset="0"/>
                <a:ea typeface="Calibri" pitchFamily="34" charset="-122"/>
                <a:cs typeface="Calibri" pitchFamily="34" charset="-120"/>
              </a:rPr>
              <a:t>Stand-in tokens for logins. One-time cards for payments. You approve the spend.</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F1B33"/>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54864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The catch</a:t>
            </a:r>
            <a:endParaRPr lang="en-US" sz="3200" dirty="0"/>
          </a:p>
        </p:txBody>
      </p:sp>
      <p:sp>
        <p:nvSpPr>
          <p:cNvPr id="3" name="Text 1"/>
          <p:cNvSpPr txBox="1"/>
          <p:nvPr/>
        </p:nvSpPr>
        <p:spPr>
          <a:xfrm>
            <a:off x="457200" y="868680"/>
            <a:ext cx="8229600" cy="365760"/>
          </a:xfrm>
          <a:prstGeom prst="rect">
            <a:avLst/>
          </a:prstGeom>
          <a:noFill/>
          <a:ln/>
        </p:spPr>
        <p:txBody>
          <a:bodyPr wrap="square" lIns="0" tIns="0" rIns="0" bIns="0" rtlCol="0" anchor="ctr"/>
          <a:lstStyle/>
          <a:p>
            <a:pPr indent="0" marL="0">
              <a:buNone/>
            </a:pPr>
            <a:r>
              <a:rPr lang="en-US" sz="1800" i="1" dirty="0">
                <a:solidFill>
                  <a:srgbClr val="2DD4BF"/>
                </a:solidFill>
                <a:latin typeface="Calibri" pitchFamily="34" charset="0"/>
                <a:ea typeface="Calibri" pitchFamily="34" charset="-122"/>
                <a:cs typeface="Calibri" pitchFamily="34" charset="-120"/>
              </a:rPr>
              <a:t>Most of this comes from Meta’s own documentation</a:t>
            </a:r>
            <a:endParaRPr lang="en-US" sz="1800" dirty="0"/>
          </a:p>
        </p:txBody>
      </p:sp>
      <p:sp>
        <p:nvSpPr>
          <p:cNvPr id="4" name="Catch 1"/>
          <p:cNvSpPr/>
          <p:nvPr/>
        </p:nvSpPr>
        <p:spPr>
          <a:xfrm>
            <a:off x="457200" y="1417320"/>
            <a:ext cx="2651760" cy="1463040"/>
          </a:xfrm>
          <a:prstGeom prst="roundRect">
            <a:avLst>
              <a:gd name="adj" fmla="val 7500"/>
            </a:avLst>
          </a:prstGeom>
          <a:solidFill>
            <a:srgbClr val="1A2A4A"/>
          </a:solidFill>
          <a:ln/>
        </p:spPr>
      </p:sp>
      <p:pic>
        <p:nvPicPr>
          <p:cNvPr id="5" name="Image 0" descr="preencoded.png">    </p:cNvPr>
          <p:cNvPicPr>
            <a:picLocks noChangeAspect="1"/>
          </p:cNvPicPr>
          <p:nvPr/>
        </p:nvPicPr>
        <p:blipFill>
          <a:blip r:embed="rId1"/>
          <a:stretch>
            <a:fillRect/>
          </a:stretch>
        </p:blipFill>
        <p:spPr>
          <a:xfrm>
            <a:off x="640080" y="1572768"/>
            <a:ext cx="237744" cy="237744"/>
          </a:xfrm>
          <a:prstGeom prst="rect">
            <a:avLst/>
          </a:prstGeom>
        </p:spPr>
      </p:pic>
      <p:sp>
        <p:nvSpPr>
          <p:cNvPr id="6" name="Text 3"/>
          <p:cNvSpPr txBox="1"/>
          <p:nvPr/>
        </p:nvSpPr>
        <p:spPr>
          <a:xfrm>
            <a:off x="1005840" y="1508760"/>
            <a:ext cx="2011680" cy="365760"/>
          </a:xfrm>
          <a:prstGeom prst="rect">
            <a:avLst/>
          </a:prstGeom>
          <a:noFill/>
          <a:ln/>
        </p:spPr>
        <p:txBody>
          <a:bodyPr wrap="square" lIns="0" tIns="0" rIns="0" bIns="0" rtlCol="0" anchor="ctr"/>
          <a:lstStyle/>
          <a:p>
            <a:pPr indent="0" marL="0">
              <a:buNone/>
            </a:pPr>
            <a:r>
              <a:rPr lang="en-US" sz="1500" b="1" dirty="0">
                <a:solidFill>
                  <a:srgbClr val="FBBF24"/>
                </a:solidFill>
                <a:latin typeface="Calibri" pitchFamily="34" charset="0"/>
                <a:ea typeface="Calibri" pitchFamily="34" charset="-122"/>
                <a:cs typeface="Calibri" pitchFamily="34" charset="-120"/>
              </a:rPr>
              <a:t>Needs outside scrutiny</a:t>
            </a:r>
            <a:endParaRPr lang="en-US" sz="1500" dirty="0"/>
          </a:p>
        </p:txBody>
      </p:sp>
      <p:sp>
        <p:nvSpPr>
          <p:cNvPr id="7" name="Text 4"/>
          <p:cNvSpPr txBox="1"/>
          <p:nvPr/>
        </p:nvSpPr>
        <p:spPr>
          <a:xfrm>
            <a:off x="640080" y="1965960"/>
            <a:ext cx="2331720" cy="8229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Early coverage called for independent critique</a:t>
            </a:r>
            <a:endParaRPr lang="en-US" sz="1300" dirty="0"/>
          </a:p>
        </p:txBody>
      </p:sp>
      <p:sp>
        <p:nvSpPr>
          <p:cNvPr id="8" name="Catch 2"/>
          <p:cNvSpPr/>
          <p:nvPr/>
        </p:nvSpPr>
        <p:spPr>
          <a:xfrm>
            <a:off x="3246120" y="1417320"/>
            <a:ext cx="2651760" cy="1463040"/>
          </a:xfrm>
          <a:prstGeom prst="roundRect">
            <a:avLst>
              <a:gd name="adj" fmla="val 7500"/>
            </a:avLst>
          </a:prstGeom>
          <a:solidFill>
            <a:srgbClr val="1A2A4A"/>
          </a:solidFill>
          <a:ln/>
        </p:spPr>
      </p:sp>
      <p:pic>
        <p:nvPicPr>
          <p:cNvPr id="9" name="Image 1" descr="preencoded.png">    </p:cNvPr>
          <p:cNvPicPr>
            <a:picLocks noChangeAspect="1"/>
          </p:cNvPicPr>
          <p:nvPr/>
        </p:nvPicPr>
        <p:blipFill>
          <a:blip r:embed="rId2"/>
          <a:stretch>
            <a:fillRect/>
          </a:stretch>
        </p:blipFill>
        <p:spPr>
          <a:xfrm>
            <a:off x="3429000" y="1572768"/>
            <a:ext cx="237744" cy="237744"/>
          </a:xfrm>
          <a:prstGeom prst="rect">
            <a:avLst/>
          </a:prstGeom>
        </p:spPr>
      </p:pic>
      <p:sp>
        <p:nvSpPr>
          <p:cNvPr id="10" name="Text 6"/>
          <p:cNvSpPr txBox="1"/>
          <p:nvPr/>
        </p:nvSpPr>
        <p:spPr>
          <a:xfrm>
            <a:off x="3794760" y="1508760"/>
            <a:ext cx="2011680" cy="365760"/>
          </a:xfrm>
          <a:prstGeom prst="rect">
            <a:avLst/>
          </a:prstGeom>
          <a:noFill/>
          <a:ln/>
        </p:spPr>
        <p:txBody>
          <a:bodyPr wrap="square" lIns="0" tIns="0" rIns="0" bIns="0" rtlCol="0" anchor="ctr"/>
          <a:lstStyle/>
          <a:p>
            <a:pPr indent="0" marL="0">
              <a:buNone/>
            </a:pPr>
            <a:r>
              <a:rPr lang="en-US" sz="1500" b="1" dirty="0">
                <a:solidFill>
                  <a:srgbClr val="FBBF24"/>
                </a:solidFill>
                <a:latin typeface="Calibri" pitchFamily="34" charset="0"/>
                <a:ea typeface="Calibri" pitchFamily="34" charset="-122"/>
                <a:cs typeface="Calibri" pitchFamily="34" charset="-120"/>
              </a:rPr>
              <a:t>Prompt injection</a:t>
            </a:r>
            <a:endParaRPr lang="en-US" sz="1500" dirty="0"/>
          </a:p>
        </p:txBody>
      </p:sp>
      <p:sp>
        <p:nvSpPr>
          <p:cNvPr id="11" name="Text 7"/>
          <p:cNvSpPr txBox="1"/>
          <p:nvPr/>
        </p:nvSpPr>
        <p:spPr>
          <a:xfrm>
            <a:off x="3429000" y="1965960"/>
            <a:ext cx="2331720" cy="8229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Hidden instructions in emails or pages can hijack the agent. Still unsolved</a:t>
            </a:r>
            <a:endParaRPr lang="en-US" sz="1300" dirty="0"/>
          </a:p>
        </p:txBody>
      </p:sp>
      <p:sp>
        <p:nvSpPr>
          <p:cNvPr id="12" name="Catch 3"/>
          <p:cNvSpPr/>
          <p:nvPr/>
        </p:nvSpPr>
        <p:spPr>
          <a:xfrm>
            <a:off x="6035040" y="1417320"/>
            <a:ext cx="2651760" cy="1463040"/>
          </a:xfrm>
          <a:prstGeom prst="roundRect">
            <a:avLst>
              <a:gd name="adj" fmla="val 7500"/>
            </a:avLst>
          </a:prstGeom>
          <a:solidFill>
            <a:srgbClr val="1A2A4A"/>
          </a:solidFill>
          <a:ln/>
        </p:spPr>
      </p:sp>
      <p:pic>
        <p:nvPicPr>
          <p:cNvPr id="13" name="Image 2" descr="preencoded.png">    </p:cNvPr>
          <p:cNvPicPr>
            <a:picLocks noChangeAspect="1"/>
          </p:cNvPicPr>
          <p:nvPr/>
        </p:nvPicPr>
        <p:blipFill>
          <a:blip r:embed="rId3"/>
          <a:stretch>
            <a:fillRect/>
          </a:stretch>
        </p:blipFill>
        <p:spPr>
          <a:xfrm>
            <a:off x="6217920" y="1572768"/>
            <a:ext cx="237744" cy="237744"/>
          </a:xfrm>
          <a:prstGeom prst="rect">
            <a:avLst/>
          </a:prstGeom>
        </p:spPr>
      </p:pic>
      <p:sp>
        <p:nvSpPr>
          <p:cNvPr id="14" name="Text 9"/>
          <p:cNvSpPr txBox="1"/>
          <p:nvPr/>
        </p:nvSpPr>
        <p:spPr>
          <a:xfrm>
            <a:off x="6583680" y="1508760"/>
            <a:ext cx="2011680" cy="365760"/>
          </a:xfrm>
          <a:prstGeom prst="rect">
            <a:avLst/>
          </a:prstGeom>
          <a:noFill/>
          <a:ln/>
        </p:spPr>
        <p:txBody>
          <a:bodyPr wrap="square" lIns="0" tIns="0" rIns="0" bIns="0" rtlCol="0" anchor="ctr"/>
          <a:lstStyle/>
          <a:p>
            <a:pPr indent="0" marL="0">
              <a:buNone/>
            </a:pPr>
            <a:r>
              <a:rPr lang="en-US" sz="1500" b="1" dirty="0">
                <a:solidFill>
                  <a:srgbClr val="FBBF24"/>
                </a:solidFill>
                <a:latin typeface="Calibri" pitchFamily="34" charset="0"/>
                <a:ea typeface="Calibri" pitchFamily="34" charset="-122"/>
                <a:cs typeface="Calibri" pitchFamily="34" charset="-120"/>
              </a:rPr>
              <a:t>Not fully private</a:t>
            </a:r>
            <a:endParaRPr lang="en-US" sz="1500" dirty="0"/>
          </a:p>
        </p:txBody>
      </p:sp>
      <p:sp>
        <p:nvSpPr>
          <p:cNvPr id="15" name="Text 10"/>
          <p:cNvSpPr txBox="1"/>
          <p:nvPr/>
        </p:nvSpPr>
        <p:spPr>
          <a:xfrm>
            <a:off x="6217920" y="1965960"/>
            <a:ext cx="2331720" cy="8229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Meta can access your VM to operate it. Confidential VM promised later this year</a:t>
            </a:r>
            <a:endParaRPr lang="en-US" sz="1300" dirty="0"/>
          </a:p>
        </p:txBody>
      </p:sp>
      <p:sp>
        <p:nvSpPr>
          <p:cNvPr id="16" name="Catch 4"/>
          <p:cNvSpPr/>
          <p:nvPr/>
        </p:nvSpPr>
        <p:spPr>
          <a:xfrm>
            <a:off x="457200" y="3017520"/>
            <a:ext cx="2651760" cy="1463040"/>
          </a:xfrm>
          <a:prstGeom prst="roundRect">
            <a:avLst>
              <a:gd name="adj" fmla="val 7500"/>
            </a:avLst>
          </a:prstGeom>
          <a:solidFill>
            <a:srgbClr val="1A2A4A"/>
          </a:solidFill>
          <a:ln/>
        </p:spPr>
      </p:sp>
      <p:pic>
        <p:nvPicPr>
          <p:cNvPr id="17" name="Image 3" descr="preencoded.png">    </p:cNvPr>
          <p:cNvPicPr>
            <a:picLocks noChangeAspect="1"/>
          </p:cNvPicPr>
          <p:nvPr/>
        </p:nvPicPr>
        <p:blipFill>
          <a:blip r:embed="rId4"/>
          <a:stretch>
            <a:fillRect/>
          </a:stretch>
        </p:blipFill>
        <p:spPr>
          <a:xfrm>
            <a:off x="640080" y="3172968"/>
            <a:ext cx="237744" cy="237744"/>
          </a:xfrm>
          <a:prstGeom prst="rect">
            <a:avLst/>
          </a:prstGeom>
        </p:spPr>
      </p:pic>
      <p:sp>
        <p:nvSpPr>
          <p:cNvPr id="18" name="Text 12"/>
          <p:cNvSpPr txBox="1"/>
          <p:nvPr/>
        </p:nvSpPr>
        <p:spPr>
          <a:xfrm>
            <a:off x="1005840" y="3108960"/>
            <a:ext cx="2011680" cy="365760"/>
          </a:xfrm>
          <a:prstGeom prst="rect">
            <a:avLst/>
          </a:prstGeom>
          <a:noFill/>
          <a:ln/>
        </p:spPr>
        <p:txBody>
          <a:bodyPr wrap="square" lIns="0" tIns="0" rIns="0" bIns="0" rtlCol="0" anchor="ctr"/>
          <a:lstStyle/>
          <a:p>
            <a:pPr indent="0" marL="0">
              <a:buNone/>
            </a:pPr>
            <a:r>
              <a:rPr lang="en-US" sz="1500" b="1" dirty="0">
                <a:solidFill>
                  <a:srgbClr val="FBBF24"/>
                </a:solidFill>
                <a:latin typeface="Calibri" pitchFamily="34" charset="0"/>
                <a:ea typeface="Calibri" pitchFamily="34" charset="-122"/>
                <a:cs typeface="Calibri" pitchFamily="34" charset="-120"/>
              </a:rPr>
              <a:t>Trains Meta’s AI</a:t>
            </a:r>
            <a:endParaRPr lang="en-US" sz="1500" dirty="0"/>
          </a:p>
        </p:txBody>
      </p:sp>
      <p:sp>
        <p:nvSpPr>
          <p:cNvPr id="19" name="Text 13"/>
          <p:cNvSpPr txBox="1"/>
          <p:nvPr/>
        </p:nvSpPr>
        <p:spPr>
          <a:xfrm>
            <a:off x="640080" y="3566160"/>
            <a:ext cx="2331720" cy="8229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Your tasks are used by default. You can opt out in settings</a:t>
            </a:r>
            <a:endParaRPr lang="en-US" sz="1300" dirty="0"/>
          </a:p>
        </p:txBody>
      </p:sp>
      <p:sp>
        <p:nvSpPr>
          <p:cNvPr id="20" name="Catch 5"/>
          <p:cNvSpPr/>
          <p:nvPr/>
        </p:nvSpPr>
        <p:spPr>
          <a:xfrm>
            <a:off x="3246120" y="3017520"/>
            <a:ext cx="2651760" cy="1463040"/>
          </a:xfrm>
          <a:prstGeom prst="roundRect">
            <a:avLst>
              <a:gd name="adj" fmla="val 7500"/>
            </a:avLst>
          </a:prstGeom>
          <a:solidFill>
            <a:srgbClr val="1A2A4A"/>
          </a:solidFill>
          <a:ln/>
        </p:spPr>
      </p:sp>
      <p:pic>
        <p:nvPicPr>
          <p:cNvPr id="21" name="Image 4" descr="preencoded.png">    </p:cNvPr>
          <p:cNvPicPr>
            <a:picLocks noChangeAspect="1"/>
          </p:cNvPicPr>
          <p:nvPr/>
        </p:nvPicPr>
        <p:blipFill>
          <a:blip r:embed="rId5"/>
          <a:stretch>
            <a:fillRect/>
          </a:stretch>
        </p:blipFill>
        <p:spPr>
          <a:xfrm>
            <a:off x="3429000" y="3172968"/>
            <a:ext cx="237744" cy="237744"/>
          </a:xfrm>
          <a:prstGeom prst="rect">
            <a:avLst/>
          </a:prstGeom>
        </p:spPr>
      </p:pic>
      <p:sp>
        <p:nvSpPr>
          <p:cNvPr id="22" name="Text 15"/>
          <p:cNvSpPr txBox="1"/>
          <p:nvPr/>
        </p:nvSpPr>
        <p:spPr>
          <a:xfrm>
            <a:off x="3794760" y="3108960"/>
            <a:ext cx="2011680" cy="365760"/>
          </a:xfrm>
          <a:prstGeom prst="rect">
            <a:avLst/>
          </a:prstGeom>
          <a:noFill/>
          <a:ln/>
        </p:spPr>
        <p:txBody>
          <a:bodyPr wrap="square" lIns="0" tIns="0" rIns="0" bIns="0" rtlCol="0" anchor="ctr"/>
          <a:lstStyle/>
          <a:p>
            <a:pPr indent="0" marL="0">
              <a:buNone/>
            </a:pPr>
            <a:r>
              <a:rPr lang="en-US" sz="1500" b="1" dirty="0">
                <a:solidFill>
                  <a:srgbClr val="FBBF24"/>
                </a:solidFill>
                <a:latin typeface="Calibri" pitchFamily="34" charset="0"/>
                <a:ea typeface="Calibri" pitchFamily="34" charset="-122"/>
                <a:cs typeface="Calibri" pitchFamily="34" charset="-120"/>
              </a:rPr>
              <a:t>Ads</a:t>
            </a:r>
            <a:endParaRPr lang="en-US" sz="1500" dirty="0"/>
          </a:p>
        </p:txBody>
      </p:sp>
      <p:sp>
        <p:nvSpPr>
          <p:cNvPr id="23" name="Text 16"/>
          <p:cNvSpPr txBox="1"/>
          <p:nvPr/>
        </p:nvSpPr>
        <p:spPr>
          <a:xfrm>
            <a:off x="3429000" y="3566160"/>
            <a:ext cx="2331720" cy="8229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Muse data stays out of ad systems, but browsing may still shape your ads</a:t>
            </a:r>
            <a:endParaRPr lang="en-US" sz="1300" dirty="0"/>
          </a:p>
        </p:txBody>
      </p:sp>
      <p:sp>
        <p:nvSpPr>
          <p:cNvPr id="24" name="Catch 6"/>
          <p:cNvSpPr/>
          <p:nvPr/>
        </p:nvSpPr>
        <p:spPr>
          <a:xfrm>
            <a:off x="6035040" y="3017520"/>
            <a:ext cx="2651760" cy="1463040"/>
          </a:xfrm>
          <a:prstGeom prst="roundRect">
            <a:avLst>
              <a:gd name="adj" fmla="val 7500"/>
            </a:avLst>
          </a:prstGeom>
          <a:solidFill>
            <a:srgbClr val="1A2A4A"/>
          </a:solidFill>
          <a:ln/>
        </p:spPr>
      </p:sp>
      <p:pic>
        <p:nvPicPr>
          <p:cNvPr id="25" name="Image 5" descr="preencoded.png">    </p:cNvPr>
          <p:cNvPicPr>
            <a:picLocks noChangeAspect="1"/>
          </p:cNvPicPr>
          <p:nvPr/>
        </p:nvPicPr>
        <p:blipFill>
          <a:blip r:embed="rId6"/>
          <a:stretch>
            <a:fillRect/>
          </a:stretch>
        </p:blipFill>
        <p:spPr>
          <a:xfrm>
            <a:off x="6217920" y="3172968"/>
            <a:ext cx="237744" cy="237744"/>
          </a:xfrm>
          <a:prstGeom prst="rect">
            <a:avLst/>
          </a:prstGeom>
        </p:spPr>
      </p:pic>
      <p:sp>
        <p:nvSpPr>
          <p:cNvPr id="26" name="Text 18"/>
          <p:cNvSpPr txBox="1"/>
          <p:nvPr/>
        </p:nvSpPr>
        <p:spPr>
          <a:xfrm>
            <a:off x="6583680" y="3108960"/>
            <a:ext cx="2011680" cy="365760"/>
          </a:xfrm>
          <a:prstGeom prst="rect">
            <a:avLst/>
          </a:prstGeom>
          <a:noFill/>
          <a:ln/>
        </p:spPr>
        <p:txBody>
          <a:bodyPr wrap="square" lIns="0" tIns="0" rIns="0" bIns="0" rtlCol="0" anchor="ctr"/>
          <a:lstStyle/>
          <a:p>
            <a:pPr indent="0" marL="0">
              <a:buNone/>
            </a:pPr>
            <a:r>
              <a:rPr lang="en-US" sz="1500" b="1" dirty="0">
                <a:solidFill>
                  <a:srgbClr val="FBBF24"/>
                </a:solidFill>
                <a:latin typeface="Calibri" pitchFamily="34" charset="0"/>
                <a:ea typeface="Calibri" pitchFamily="34" charset="-122"/>
                <a:cs typeface="Calibri" pitchFamily="34" charset="-120"/>
              </a:rPr>
              <a:t>Privacy record</a:t>
            </a:r>
            <a:endParaRPr lang="en-US" sz="1500" dirty="0"/>
          </a:p>
        </p:txBody>
      </p:sp>
      <p:sp>
        <p:nvSpPr>
          <p:cNvPr id="27" name="Text 19"/>
          <p:cNvSpPr txBox="1"/>
          <p:nvPr/>
        </p:nvSpPr>
        <p:spPr>
          <a:xfrm>
            <a:off x="6217920" y="3566160"/>
            <a:ext cx="2331720" cy="8229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$5B FTC penalty in 2019 and the Cambridge Analytica scandal</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F1B33"/>
        </a:solidFill>
      </p:bgPr>
    </p:bg>
    <p:spTree>
      <p:nvGrpSpPr>
        <p:cNvPr id="1" name=""/>
        <p:cNvGrpSpPr/>
        <p:nvPr/>
      </p:nvGrpSpPr>
      <p:grpSpPr>
        <a:xfrm>
          <a:off x="0" y="0"/>
          <a:ext cx="0" cy="0"/>
          <a:chOff x="0" y="0"/>
          <a:chExt cx="0" cy="0"/>
        </a:xfrm>
      </p:grpSpPr>
      <p:sp>
        <p:nvSpPr>
          <p:cNvPr id="2" name="Shape 0"/>
          <p:cNvSpPr/>
          <p:nvPr/>
        </p:nvSpPr>
        <p:spPr>
          <a:xfrm>
            <a:off x="457200" y="1371600"/>
            <a:ext cx="2194560" cy="2194560"/>
          </a:xfrm>
          <a:prstGeom prst="ellipse">
            <a:avLst/>
          </a:prstGeom>
          <a:solidFill>
            <a:srgbClr val="1A2A4A"/>
          </a:solidFill>
          <a:ln/>
        </p:spPr>
      </p:sp>
      <p:sp>
        <p:nvSpPr>
          <p:cNvPr id="3" name="Shape 1"/>
          <p:cNvSpPr/>
          <p:nvPr/>
        </p:nvSpPr>
        <p:spPr>
          <a:xfrm>
            <a:off x="914400" y="1828800"/>
            <a:ext cx="1280160" cy="1280160"/>
          </a:xfrm>
          <a:prstGeom prst="ellipse">
            <a:avLst/>
          </a:prstGeom>
          <a:solidFill>
            <a:srgbClr val="2DD4BF"/>
          </a:solidFill>
          <a:ln/>
        </p:spPr>
      </p:sp>
      <p:pic>
        <p:nvPicPr>
          <p:cNvPr id="4" name="Image 0" descr="preencoded.png">    </p:cNvPr>
          <p:cNvPicPr>
            <a:picLocks noChangeAspect="1"/>
          </p:cNvPicPr>
          <p:nvPr/>
        </p:nvPicPr>
        <p:blipFill>
          <a:blip r:embed="rId1"/>
          <a:stretch>
            <a:fillRect/>
          </a:stretch>
        </p:blipFill>
        <p:spPr>
          <a:xfrm>
            <a:off x="1216152" y="2130552"/>
            <a:ext cx="676656" cy="676656"/>
          </a:xfrm>
          <a:prstGeom prst="rect">
            <a:avLst/>
          </a:prstGeom>
        </p:spPr>
      </p:pic>
      <p:sp>
        <p:nvSpPr>
          <p:cNvPr id="5" name="Text 2"/>
          <p:cNvSpPr txBox="1"/>
          <p:nvPr/>
        </p:nvSpPr>
        <p:spPr>
          <a:xfrm>
            <a:off x="3108960" y="1188720"/>
            <a:ext cx="5577840" cy="1737360"/>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Agents that act could save real time, but they’re only as safe as the access you give them</a:t>
            </a:r>
            <a:endParaRPr lang="en-US" sz="2800" dirty="0"/>
          </a:p>
        </p:txBody>
      </p:sp>
      <p:sp>
        <p:nvSpPr>
          <p:cNvPr id="6" name="Text 3"/>
          <p:cNvSpPr txBox="1"/>
          <p:nvPr/>
        </p:nvSpPr>
        <p:spPr>
          <a:xfrm>
            <a:off x="3108960" y="3108960"/>
            <a:ext cx="5577840" cy="731520"/>
          </a:xfrm>
          <a:prstGeom prst="rect">
            <a:avLst/>
          </a:prstGeom>
          <a:noFill/>
          <a:ln/>
        </p:spPr>
        <p:txBody>
          <a:bodyPr wrap="square" lIns="0" tIns="0" rIns="0" bIns="0" rtlCol="0" anchor="t"/>
          <a:lstStyle/>
          <a:p>
            <a:pPr indent="0" marL="0">
              <a:buNone/>
            </a:pPr>
            <a:r>
              <a:rPr lang="en-US" sz="1800" dirty="0">
                <a:solidFill>
                  <a:srgbClr val="2DD4BF"/>
                </a:solidFill>
                <a:latin typeface="Calibri" pitchFamily="34" charset="0"/>
                <a:ea typeface="Calibri" pitchFamily="34" charset="-122"/>
                <a:cs typeface="Calibri" pitchFamily="34" charset="-120"/>
              </a:rPr>
              <a:t>Muse answers part of the trust question. The rest depends on whether Meta delivers.</a:t>
            </a:r>
            <a:endParaRPr lang="en-US" sz="1800" dirty="0"/>
          </a:p>
        </p:txBody>
      </p:sp>
      <p:sp>
        <p:nvSpPr>
          <p:cNvPr id="7" name="Text 4"/>
          <p:cNvSpPr txBox="1"/>
          <p:nvPr/>
        </p:nvSpPr>
        <p:spPr>
          <a:xfrm>
            <a:off x="3108960" y="4023360"/>
            <a:ext cx="5577840" cy="365760"/>
          </a:xfrm>
          <a:prstGeom prst="rect">
            <a:avLst/>
          </a:prstGeom>
          <a:noFill/>
          <a:ln/>
        </p:spPr>
        <p:txBody>
          <a:bodyPr wrap="square" lIns="0" tIns="0" rIns="0" bIns="0" rtlCol="0" anchor="ctr"/>
          <a:lstStyle/>
          <a:p>
            <a:pPr indent="0" marL="0">
              <a:buNone/>
            </a:pPr>
            <a:r>
              <a:rPr lang="en-US" sz="1600" i="1" dirty="0">
                <a:solidFill>
                  <a:srgbClr val="B6C2D9"/>
                </a:solidFill>
                <a:latin typeface="Calibri" pitchFamily="34" charset="0"/>
                <a:ea typeface="Calibri" pitchFamily="34" charset="-122"/>
                <a:cs typeface="Calibri" pitchFamily="34" charset="-120"/>
              </a:rPr>
              <a:t>Only time will tell</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Meta's Muse: The Future of AI Coding and Security</dc:title>
  <dc:subject>PptxGenJS Presentation</dc:subject>
  <dc:creator>PptxGenJS</dc:creator>
  <cp:lastModifiedBy>PptxGenJS</cp:lastModifiedBy>
  <cp:revision>1</cp:revision>
  <dcterms:created xsi:type="dcterms:W3CDTF">2026-10-22T01:48:46Z</dcterms:created>
  <dcterms:modified xsi:type="dcterms:W3CDTF">2026-10-22T01:48:46Z</dcterms:modified>
</cp:coreProperties>
</file>